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67" r:id="rId3"/>
    <p:sldId id="257" r:id="rId4"/>
    <p:sldId id="261" r:id="rId5"/>
    <p:sldId id="272" r:id="rId6"/>
    <p:sldId id="270" r:id="rId7"/>
    <p:sldId id="273" r:id="rId8"/>
    <p:sldId id="274" r:id="rId9"/>
    <p:sldId id="275" r:id="rId10"/>
    <p:sldId id="278" r:id="rId11"/>
    <p:sldId id="277" r:id="rId12"/>
    <p:sldId id="276" r:id="rId13"/>
    <p:sldId id="266" r:id="rId14"/>
  </p:sldIdLst>
  <p:sldSz cx="12192000" cy="6858000"/>
  <p:notesSz cx="6858000" cy="9144000"/>
  <p:embeddedFontLst>
    <p:embeddedFont>
      <p:font typeface="Inter" panose="020B0604020202020204" charset="0"/>
      <p:regular r:id="rId16"/>
      <p:bold r:id="rId17"/>
      <p:italic r:id="rId18"/>
      <p:boldItalic r:id="rId19"/>
    </p:embeddedFont>
    <p:embeddedFont>
      <p:font typeface="Poppins" panose="020B0502040204020203"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Untitled Section" id="{4451B8F9-9B87-45FD-9786-F11FDBF3DED9}">
          <p14:sldIdLst>
            <p14:sldId id="256"/>
            <p14:sldId id="267"/>
            <p14:sldId id="257"/>
            <p14:sldId id="261"/>
            <p14:sldId id="272"/>
            <p14:sldId id="270"/>
            <p14:sldId id="273"/>
            <p14:sldId id="274"/>
            <p14:sldId id="275"/>
            <p14:sldId id="278"/>
            <p14:sldId id="277"/>
            <p14:sldId id="276"/>
            <p14:sldId id="266"/>
          </p14:sldIdLst>
        </p14:section>
      </p14:sectionLst>
    </p:ex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94A3B8"/>
    <a:srgbClr val="455269"/>
    <a:srgbClr val="6F7C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snapToGrid="0">
      <p:cViewPr varScale="1">
        <p:scale>
          <a:sx n="78" d="100"/>
          <a:sy n="78" d="100"/>
        </p:scale>
        <p:origin x="1109"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1553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9133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0512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1470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0338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260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5615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9236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sp>
        <p:nvSpPr>
          <p:cNvPr id="86" name="Google Shape;86;p13"/>
          <p:cNvSpPr txBox="1"/>
          <p:nvPr/>
        </p:nvSpPr>
        <p:spPr>
          <a:xfrm>
            <a:off x="1544669" y="1404394"/>
            <a:ext cx="9065343" cy="1455783"/>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3600" b="1" i="0" u="none" strike="noStrike" cap="none" dirty="0">
                <a:solidFill>
                  <a:srgbClr val="F8FAFC"/>
                </a:solidFill>
                <a:latin typeface="Poppins"/>
                <a:ea typeface="Calibri"/>
                <a:cs typeface="Poppins"/>
                <a:sym typeface="Poppins"/>
              </a:rPr>
              <a:t>COLLEGE OF ENGINEERING</a:t>
            </a:r>
          </a:p>
          <a:p>
            <a:pPr marL="0" marR="0" lvl="0" indent="0" algn="ctr" rtl="0">
              <a:lnSpc>
                <a:spcPct val="110000"/>
              </a:lnSpc>
              <a:spcBef>
                <a:spcPts val="0"/>
              </a:spcBef>
              <a:spcAft>
                <a:spcPts val="0"/>
              </a:spcAft>
              <a:buNone/>
            </a:pPr>
            <a:r>
              <a:rPr lang="en-US" sz="3600" b="1" i="0" u="none" strike="noStrike" cap="none" dirty="0">
                <a:solidFill>
                  <a:srgbClr val="F8FAFC"/>
                </a:solidFill>
                <a:latin typeface="Poppins"/>
                <a:ea typeface="Calibri"/>
                <a:cs typeface="Poppins"/>
                <a:sym typeface="Poppins"/>
              </a:rPr>
              <a:t>CHENGANNUR </a:t>
            </a:r>
            <a:br>
              <a:rPr lang="en-US" sz="1800" b="0" i="0" u="none" strike="noStrike" cap="none" dirty="0">
                <a:solidFill>
                  <a:schemeClr val="dk1"/>
                </a:solidFill>
                <a:latin typeface="Calibri"/>
                <a:ea typeface="Calibri"/>
                <a:cs typeface="Calibri"/>
                <a:sym typeface="Calibri"/>
              </a:rPr>
            </a:br>
            <a:endParaRPr lang="en-IN" dirty="0"/>
          </a:p>
        </p:txBody>
      </p:sp>
      <p:sp>
        <p:nvSpPr>
          <p:cNvPr id="87" name="Google Shape;87;p13"/>
          <p:cNvSpPr txBox="1"/>
          <p:nvPr/>
        </p:nvSpPr>
        <p:spPr>
          <a:xfrm>
            <a:off x="2423651" y="5010408"/>
            <a:ext cx="7620000"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1" dirty="0">
                <a:solidFill>
                  <a:srgbClr val="2DD4BF"/>
                </a:solidFill>
                <a:latin typeface="Poppins"/>
                <a:cs typeface="Poppins"/>
                <a:sym typeface="Poppins"/>
              </a:rPr>
              <a:t>DEPARTMENT OF COMPUTER ENGINEERING</a:t>
            </a:r>
            <a:endParaRPr dirty="0"/>
          </a:p>
        </p:txBody>
      </p:sp>
      <p:pic>
        <p:nvPicPr>
          <p:cNvPr id="5" name="Picture 4">
            <a:extLst>
              <a:ext uri="{FF2B5EF4-FFF2-40B4-BE49-F238E27FC236}">
                <a16:creationId xmlns:a16="http://schemas.microsoft.com/office/drawing/2014/main" id="{871B0066-24E5-4729-E068-3DA5B56F2E04}"/>
              </a:ext>
            </a:extLst>
          </p:cNvPr>
          <p:cNvPicPr>
            <a:picLocks noChangeAspect="1"/>
          </p:cNvPicPr>
          <p:nvPr/>
        </p:nvPicPr>
        <p:blipFill>
          <a:blip r:embed="rId3"/>
          <a:stretch>
            <a:fillRect/>
          </a:stretch>
        </p:blipFill>
        <p:spPr>
          <a:xfrm>
            <a:off x="5093109" y="2860177"/>
            <a:ext cx="2045108" cy="1861660"/>
          </a:xfrm>
          <a:prstGeom prst="rect">
            <a:avLst/>
          </a:prstGeom>
        </p:spPr>
      </p:pic>
      <p:sp>
        <p:nvSpPr>
          <p:cNvPr id="2" name="Google Shape;85;p13">
            <a:extLst>
              <a:ext uri="{FF2B5EF4-FFF2-40B4-BE49-F238E27FC236}">
                <a16:creationId xmlns:a16="http://schemas.microsoft.com/office/drawing/2014/main" id="{B03B44EB-BF5D-954C-F2F5-27D3DED9881D}"/>
              </a:ext>
            </a:extLst>
          </p:cNvPr>
          <p:cNvSpPr/>
          <p:nvPr/>
        </p:nvSpPr>
        <p:spPr>
          <a:xfrm>
            <a:off x="4888082" y="1070104"/>
            <a:ext cx="2250135" cy="45719"/>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9664" y="0"/>
            <a:ext cx="12192000" cy="6858000"/>
          </a:xfrm>
          <a:prstGeom prst="rect">
            <a:avLst/>
          </a:prstGeom>
          <a:noFill/>
          <a:ln>
            <a:noFill/>
          </a:ln>
        </p:spPr>
      </p:pic>
      <p:sp>
        <p:nvSpPr>
          <p:cNvPr id="85" name="Google Shape;85;p13"/>
          <p:cNvSpPr/>
          <p:nvPr/>
        </p:nvSpPr>
        <p:spPr>
          <a:xfrm flipV="1">
            <a:off x="5099478" y="3429000"/>
            <a:ext cx="1994496" cy="45719"/>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txBox="1"/>
          <p:nvPr/>
        </p:nvSpPr>
        <p:spPr>
          <a:xfrm>
            <a:off x="2448232" y="1414226"/>
            <a:ext cx="7258218" cy="16250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dirty="0">
                <a:solidFill>
                  <a:srgbClr val="F8FAFC"/>
                </a:solidFill>
                <a:latin typeface="Poppins"/>
                <a:ea typeface="Calibri"/>
                <a:cs typeface="Poppins"/>
                <a:sym typeface="Poppins"/>
              </a:rPr>
              <a:t>MAINPROJECT</a:t>
            </a:r>
            <a:br>
              <a:rPr lang="en-US" sz="1800" b="0" i="0" u="none" strike="noStrike" cap="none" dirty="0">
                <a:solidFill>
                  <a:schemeClr val="dk1"/>
                </a:solidFill>
                <a:latin typeface="Calibri"/>
                <a:ea typeface="Calibri"/>
                <a:cs typeface="Calibri"/>
                <a:sym typeface="Calibri"/>
              </a:rPr>
            </a:br>
            <a:r>
              <a:rPr lang="en-US" sz="4800" b="1" i="0" u="none" strike="noStrike" cap="none" dirty="0">
                <a:solidFill>
                  <a:srgbClr val="2DD4BF"/>
                </a:solidFill>
                <a:latin typeface="Poppins"/>
                <a:ea typeface="Poppins"/>
                <a:cs typeface="Poppins"/>
                <a:sym typeface="Poppins"/>
              </a:rPr>
              <a:t>PRESENTATION</a:t>
            </a:r>
            <a:endParaRPr dirty="0"/>
          </a:p>
        </p:txBody>
      </p:sp>
      <p:sp>
        <p:nvSpPr>
          <p:cNvPr id="87" name="Google Shape;87;p13"/>
          <p:cNvSpPr txBox="1"/>
          <p:nvPr/>
        </p:nvSpPr>
        <p:spPr>
          <a:xfrm>
            <a:off x="7093974" y="3818715"/>
            <a:ext cx="4281949" cy="1531188"/>
          </a:xfrm>
          <a:prstGeom prst="rect">
            <a:avLst/>
          </a:prstGeom>
          <a:noFill/>
          <a:ln>
            <a:noFill/>
          </a:ln>
        </p:spPr>
        <p:txBody>
          <a:bodyPr spcFirstLastPara="1" wrap="square" lIns="0" tIns="0" rIns="0" bIns="0" anchor="t" anchorCtr="0">
            <a:spAutoFit/>
          </a:bodyPr>
          <a:lstStyle/>
          <a:p>
            <a:pPr algn="ctr">
              <a:lnSpc>
                <a:spcPct val="159944"/>
              </a:lnSpc>
            </a:pPr>
            <a:r>
              <a:rPr lang="en-IN" sz="1800" b="1" dirty="0">
                <a:solidFill>
                  <a:schemeClr val="bg1"/>
                </a:solidFill>
                <a:latin typeface="Poppins" panose="00000500000000000000" pitchFamily="2" charset="0"/>
                <a:ea typeface="Inter" panose="020B0604020202020204" charset="0"/>
                <a:cs typeface="Poppins" panose="00000500000000000000" pitchFamily="2" charset="0"/>
              </a:rPr>
              <a:t>MEMBERS </a:t>
            </a:r>
            <a:r>
              <a:rPr lang="en-IN" sz="1800" b="1" dirty="0">
                <a:solidFill>
                  <a:schemeClr val="bg1"/>
                </a:solidFill>
                <a:latin typeface="Inter" panose="020B0604020202020204" charset="0"/>
                <a:ea typeface="Inter" panose="020B0604020202020204" charset="0"/>
              </a:rPr>
              <a:t>: </a:t>
            </a:r>
          </a:p>
          <a:p>
            <a:pPr lvl="0" algn="ctr">
              <a:lnSpc>
                <a:spcPct val="125000"/>
              </a:lnSpc>
            </a:pPr>
            <a:r>
              <a:rPr lang="en-US" sz="1800" dirty="0">
                <a:solidFill>
                  <a:srgbClr val="CBD5E1"/>
                </a:solidFill>
                <a:latin typeface="Times New Roman" panose="02020603050405020304" pitchFamily="18" charset="0"/>
                <a:ea typeface="Inter"/>
                <a:cs typeface="Times New Roman" panose="02020603050405020304" pitchFamily="18" charset="0"/>
                <a:sym typeface="Inter"/>
              </a:rPr>
              <a:t>Abdul Hameed(CHN23CS002)</a:t>
            </a:r>
          </a:p>
          <a:p>
            <a:pPr marL="0" marR="0" lvl="0" indent="0" algn="ctr" rtl="0">
              <a:lnSpc>
                <a:spcPct val="125000"/>
              </a:lnSpc>
              <a:spcBef>
                <a:spcPts val="0"/>
              </a:spcBef>
              <a:spcAft>
                <a:spcPts val="0"/>
              </a:spcAft>
              <a:buNone/>
            </a:pPr>
            <a:r>
              <a:rPr lang="en-US" sz="1800" dirty="0">
                <a:solidFill>
                  <a:srgbClr val="CBD5E1"/>
                </a:solidFill>
                <a:latin typeface="Times New Roman" panose="02020603050405020304" pitchFamily="18" charset="0"/>
                <a:ea typeface="Inter"/>
                <a:cs typeface="Times New Roman" panose="02020603050405020304" pitchFamily="18" charset="0"/>
                <a:sym typeface="Inter"/>
              </a:rPr>
              <a:t>Pavisankar P (CHN23CS156)</a:t>
            </a:r>
          </a:p>
          <a:p>
            <a:pPr lvl="0" algn="ctr">
              <a:lnSpc>
                <a:spcPct val="125000"/>
              </a:lnSpc>
            </a:pPr>
            <a:r>
              <a:rPr lang="en-US" sz="1800" dirty="0">
                <a:solidFill>
                  <a:srgbClr val="CBD5E1"/>
                </a:solidFill>
                <a:latin typeface="Times New Roman" panose="02020603050405020304" pitchFamily="18" charset="0"/>
                <a:ea typeface="Inter"/>
                <a:cs typeface="Times New Roman" panose="02020603050405020304" pitchFamily="18" charset="0"/>
                <a:sym typeface="Inter"/>
              </a:rPr>
              <a:t>Sonu Saj Varughese(CHN23CS177)</a:t>
            </a:r>
            <a:endParaRPr lang="en-US" sz="1400" dirty="0">
              <a:latin typeface="Times New Roman" panose="02020603050405020304" pitchFamily="18" charset="0"/>
              <a:cs typeface="Times New Roman" panose="02020603050405020304" pitchFamily="18" charset="0"/>
            </a:endParaRPr>
          </a:p>
        </p:txBody>
      </p:sp>
      <p:sp>
        <p:nvSpPr>
          <p:cNvPr id="2" name="Google Shape;87;p13">
            <a:extLst>
              <a:ext uri="{FF2B5EF4-FFF2-40B4-BE49-F238E27FC236}">
                <a16:creationId xmlns:a16="http://schemas.microsoft.com/office/drawing/2014/main" id="{59A6CAA5-B65C-1C93-6B53-30A03904940A}"/>
              </a:ext>
            </a:extLst>
          </p:cNvPr>
          <p:cNvSpPr txBox="1"/>
          <p:nvPr/>
        </p:nvSpPr>
        <p:spPr>
          <a:xfrm>
            <a:off x="924232" y="3818714"/>
            <a:ext cx="4281949" cy="1531188"/>
          </a:xfrm>
          <a:prstGeom prst="rect">
            <a:avLst/>
          </a:prstGeom>
          <a:noFill/>
          <a:ln>
            <a:noFill/>
          </a:ln>
        </p:spPr>
        <p:txBody>
          <a:bodyPr spcFirstLastPara="1" wrap="square" lIns="0" tIns="0" rIns="0" bIns="0" anchor="t" anchorCtr="0">
            <a:spAutoFit/>
          </a:bodyPr>
          <a:lstStyle/>
          <a:p>
            <a:pPr algn="ctr">
              <a:lnSpc>
                <a:spcPct val="159944"/>
              </a:lnSpc>
            </a:pPr>
            <a:r>
              <a:rPr lang="en-IN" sz="1800" b="1" dirty="0">
                <a:solidFill>
                  <a:schemeClr val="bg1"/>
                </a:solidFill>
                <a:latin typeface="Poppins" panose="00000500000000000000" pitchFamily="2" charset="0"/>
                <a:ea typeface="Inter" panose="020B0604020202020204" charset="0"/>
                <a:cs typeface="Poppins" panose="00000500000000000000" pitchFamily="2" charset="0"/>
              </a:rPr>
              <a:t>GUIDE </a:t>
            </a:r>
            <a:r>
              <a:rPr lang="en-IN" sz="1600" b="1" dirty="0">
                <a:solidFill>
                  <a:schemeClr val="bg1"/>
                </a:solidFill>
                <a:latin typeface="Inter" panose="020B0604020202020204" charset="0"/>
                <a:ea typeface="Inter" panose="020B0604020202020204" charset="0"/>
              </a:rPr>
              <a:t>: </a:t>
            </a:r>
          </a:p>
          <a:p>
            <a:pPr marL="0" marR="0" lvl="0" indent="0" algn="ctr" rtl="0">
              <a:lnSpc>
                <a:spcPct val="125000"/>
              </a:lnSpc>
              <a:spcBef>
                <a:spcPts val="0"/>
              </a:spcBef>
              <a:spcAft>
                <a:spcPts val="0"/>
              </a:spcAft>
              <a:buNone/>
            </a:pPr>
            <a:r>
              <a:rPr lang="en-US" sz="1800" dirty="0">
                <a:solidFill>
                  <a:srgbClr val="CBD5E1"/>
                </a:solidFill>
                <a:latin typeface="Times New Roman" panose="02020603050405020304" pitchFamily="18" charset="0"/>
                <a:ea typeface="Inter"/>
                <a:cs typeface="Times New Roman" panose="02020603050405020304" pitchFamily="18" charset="0"/>
                <a:sym typeface="Inter"/>
              </a:rPr>
              <a:t>Dr. Geetha S </a:t>
            </a:r>
          </a:p>
          <a:p>
            <a:pPr marL="0" marR="0" lvl="0" indent="0" algn="ctr" rtl="0">
              <a:lnSpc>
                <a:spcPct val="125000"/>
              </a:lnSpc>
              <a:spcBef>
                <a:spcPts val="0"/>
              </a:spcBef>
              <a:spcAft>
                <a:spcPts val="0"/>
              </a:spcAft>
              <a:buNone/>
            </a:pPr>
            <a:r>
              <a:rPr lang="en-US" sz="1800" dirty="0">
                <a:solidFill>
                  <a:srgbClr val="CBD5E1"/>
                </a:solidFill>
                <a:latin typeface="Times New Roman" panose="02020603050405020304" pitchFamily="18" charset="0"/>
                <a:ea typeface="Inter"/>
                <a:cs typeface="Times New Roman" panose="02020603050405020304" pitchFamily="18" charset="0"/>
                <a:sym typeface="Inter"/>
              </a:rPr>
              <a:t>Associate Professor </a:t>
            </a:r>
          </a:p>
          <a:p>
            <a:pPr marL="0" marR="0" lvl="0" indent="0" algn="ctr" rtl="0">
              <a:lnSpc>
                <a:spcPct val="125000"/>
              </a:lnSpc>
              <a:spcBef>
                <a:spcPts val="0"/>
              </a:spcBef>
              <a:spcAft>
                <a:spcPts val="0"/>
              </a:spcAft>
              <a:buNone/>
            </a:pPr>
            <a:r>
              <a:rPr lang="en-US" sz="1800" dirty="0">
                <a:solidFill>
                  <a:srgbClr val="CBD5E1"/>
                </a:solidFill>
                <a:latin typeface="Times New Roman" panose="02020603050405020304" pitchFamily="18" charset="0"/>
                <a:ea typeface="Inter"/>
                <a:cs typeface="Times New Roman" panose="02020603050405020304" pitchFamily="18" charset="0"/>
                <a:sym typeface="Inter"/>
              </a:rPr>
              <a:t>Dept of Computer Science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4284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p:cNvSpPr txBox="1"/>
          <p:nvPr/>
        </p:nvSpPr>
        <p:spPr>
          <a:xfrm>
            <a:off x="280077" y="2703278"/>
            <a:ext cx="11581447" cy="615553"/>
          </a:xfrm>
          <a:prstGeom prst="rect">
            <a:avLst/>
          </a:prstGeom>
          <a:noFill/>
          <a:ln>
            <a:noFill/>
          </a:ln>
        </p:spPr>
        <p:txBody>
          <a:bodyPr spcFirstLastPara="1" wrap="square" lIns="0" tIns="0" rIns="0" bIns="0" anchor="t" anchorCtr="0">
            <a:spAutoFit/>
          </a:bodyPr>
          <a:lstStyle/>
          <a:p>
            <a:pPr algn="ctr"/>
            <a:r>
              <a:rPr lang="en-IN" sz="4000" b="1" dirty="0">
                <a:solidFill>
                  <a:srgbClr val="00B0F0"/>
                </a:solidFill>
                <a:effectLst/>
                <a:latin typeface="Poppins" panose="00000500000000000000" pitchFamily="2" charset="0"/>
                <a:ea typeface="Times New Roman" panose="02020603050405020304" pitchFamily="18" charset="0"/>
                <a:cs typeface="Poppins" panose="00000500000000000000" pitchFamily="2" charset="0"/>
              </a:rPr>
              <a:t>Retina-Scan</a:t>
            </a:r>
            <a:endParaRPr lang="en-IN" sz="3200" dirty="0">
              <a:solidFill>
                <a:srgbClr val="00B0F0"/>
              </a:solidFill>
              <a:latin typeface="Poppins" panose="00000500000000000000" pitchFamily="2" charset="0"/>
              <a:cs typeface="Poppins" panose="00000500000000000000" pitchFamily="2" charset="0"/>
            </a:endParaRPr>
          </a:p>
        </p:txBody>
      </p:sp>
      <p:sp>
        <p:nvSpPr>
          <p:cNvPr id="95" name="Google Shape;95;p14"/>
          <p:cNvSpPr/>
          <p:nvPr/>
        </p:nvSpPr>
        <p:spPr>
          <a:xfrm>
            <a:off x="5345984" y="3481161"/>
            <a:ext cx="1500032" cy="45719"/>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 name="Google Shape;96;p14"/>
          <p:cNvSpPr txBox="1"/>
          <p:nvPr/>
        </p:nvSpPr>
        <p:spPr>
          <a:xfrm>
            <a:off x="1111488" y="3827656"/>
            <a:ext cx="10647414" cy="482183"/>
          </a:xfrm>
          <a:prstGeom prst="rect">
            <a:avLst/>
          </a:prstGeom>
          <a:noFill/>
          <a:ln>
            <a:noFill/>
          </a:ln>
        </p:spPr>
        <p:txBody>
          <a:bodyPr spcFirstLastPara="1" wrap="square" lIns="0" tIns="0" rIns="0" bIns="0" anchor="t" anchorCtr="0">
            <a:spAutoFit/>
          </a:bodyPr>
          <a:lstStyle/>
          <a:p>
            <a:pPr algn="ctr">
              <a:spcAft>
                <a:spcPts val="1600"/>
              </a:spcAft>
            </a:pPr>
            <a:r>
              <a:rPr lang="en-IN" sz="1800" i="1" dirty="0">
                <a:solidFill>
                  <a:schemeClr val="bg1"/>
                </a:solidFill>
                <a:effectLst/>
                <a:latin typeface="Times New Roman" panose="02020603050405020304" pitchFamily="18" charset="0"/>
                <a:ea typeface="Times New Roman" panose="02020603050405020304" pitchFamily="18" charset="0"/>
              </a:rPr>
              <a:t>A Deep Learning-Based Retinal Fundus Image Screening Tool for Early Detection of Diabetic Retinopathy</a:t>
            </a:r>
            <a:endParaRPr lang="en-IN" sz="1800" dirty="0">
              <a:solidFill>
                <a:schemeClr val="bg1"/>
              </a:solidFill>
              <a:effectLst/>
              <a:latin typeface="Times New Roman" panose="02020603050405020304" pitchFamily="18" charset="0"/>
              <a:ea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5975248"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ABSTRACT</a:t>
            </a:r>
            <a:endParaRPr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11" name="Group 10">
            <a:extLst>
              <a:ext uri="{FF2B5EF4-FFF2-40B4-BE49-F238E27FC236}">
                <a16:creationId xmlns:a16="http://schemas.microsoft.com/office/drawing/2014/main" id="{49C2FC23-0794-5B73-8D2C-45BE9508C925}"/>
              </a:ext>
            </a:extLst>
          </p:cNvPr>
          <p:cNvGrpSpPr/>
          <p:nvPr/>
        </p:nvGrpSpPr>
        <p:grpSpPr>
          <a:xfrm>
            <a:off x="581025" y="1521062"/>
            <a:ext cx="11362221" cy="4299775"/>
            <a:chOff x="603884" y="1701648"/>
            <a:chExt cx="11362221" cy="4299775"/>
          </a:xfrm>
        </p:grpSpPr>
        <p:sp>
          <p:nvSpPr>
            <p:cNvPr id="8" name="TextBox 7">
              <a:extLst>
                <a:ext uri="{FF2B5EF4-FFF2-40B4-BE49-F238E27FC236}">
                  <a16:creationId xmlns:a16="http://schemas.microsoft.com/office/drawing/2014/main" id="{E20B3656-8380-1096-976E-28F0D9EE7F96}"/>
                </a:ext>
              </a:extLst>
            </p:cNvPr>
            <p:cNvSpPr txBox="1"/>
            <p:nvPr/>
          </p:nvSpPr>
          <p:spPr>
            <a:xfrm>
              <a:off x="603884" y="1701648"/>
              <a:ext cx="11362221" cy="678776"/>
            </a:xfrm>
            <a:prstGeom prst="rect">
              <a:avLst/>
            </a:prstGeom>
            <a:noFill/>
          </p:spPr>
          <p:txBody>
            <a:bodyPr wrap="square" rtlCol="0">
              <a:spAutoFit/>
            </a:bodyPr>
            <a:lstStyle/>
            <a:p>
              <a:pPr>
                <a:lnSpc>
                  <a:spcPct val="125000"/>
                </a:lnSpc>
              </a:pPr>
              <a:r>
                <a:rPr lang="en-US" sz="1600" dirty="0">
                  <a:solidFill>
                    <a:schemeClr val="bg1"/>
                  </a:solidFill>
                  <a:effectLst/>
                  <a:latin typeface="Times New Roman" panose="02020603050405020304" pitchFamily="18" charset="0"/>
                  <a:ea typeface="Calibri" panose="020F0502020204030204" pitchFamily="34" charset="0"/>
                </a:rPr>
                <a:t>Diabetic Retinopathy (DR) is a leading cause of preventable blindness among diabetics, often showing no symptoms until significant vision loss has occurred, while manual screening by ophthalmologists is time-consuming </a:t>
              </a:r>
              <a:endParaRPr lang="en-IN" sz="1200" dirty="0">
                <a:solidFill>
                  <a:schemeClr val="bg1"/>
                </a:solidFill>
              </a:endParaRPr>
            </a:p>
          </p:txBody>
        </p:sp>
        <p:sp>
          <p:nvSpPr>
            <p:cNvPr id="9" name="TextBox 8">
              <a:extLst>
                <a:ext uri="{FF2B5EF4-FFF2-40B4-BE49-F238E27FC236}">
                  <a16:creationId xmlns:a16="http://schemas.microsoft.com/office/drawing/2014/main" id="{656A289E-FDC7-3329-A50A-6E0305422BA0}"/>
                </a:ext>
              </a:extLst>
            </p:cNvPr>
            <p:cNvSpPr txBox="1"/>
            <p:nvPr/>
          </p:nvSpPr>
          <p:spPr>
            <a:xfrm>
              <a:off x="626744" y="2551837"/>
              <a:ext cx="11280121" cy="1909882"/>
            </a:xfrm>
            <a:prstGeom prst="rect">
              <a:avLst/>
            </a:prstGeom>
            <a:noFill/>
          </p:spPr>
          <p:txBody>
            <a:bodyPr wrap="square" rtlCol="0">
              <a:spAutoFit/>
            </a:bodyPr>
            <a:lstStyle/>
            <a:p>
              <a:pPr algn="just">
                <a:lnSpc>
                  <a:spcPct val="125000"/>
                </a:lnSpc>
              </a:pPr>
              <a:r>
                <a:rPr lang="en-US" sz="1600" dirty="0">
                  <a:solidFill>
                    <a:schemeClr val="bg1"/>
                  </a:solidFill>
                  <a:effectLst/>
                  <a:latin typeface="Times New Roman" panose="02020603050405020304" pitchFamily="18" charset="0"/>
                  <a:ea typeface="Calibri" panose="020F0502020204030204" pitchFamily="34" charset="0"/>
                </a:rPr>
                <a:t>Retina-Scan addresses this through a deep learning model that classifies a retinal fundus image into one of five DR severity grades — No DR, Mild, Moderate, Severe, and Proliferative — using transfer learning on a pretrained EfficientNetB0 CNN, CLAHE-based image preprocessing to enhance visibility of microaneurysms and hemorrhages, class-weighted training to handle dataset imbalance, and Grad-CAM visual explanations to show which retinal regions influenced each prediction, deployed as a simple web app where a technician uploads an image and receives an instant severity grade, confidence score, and heatmap, explicitly positioned as a pre-screening referral aid rather than a diagnostic replacement.</a:t>
              </a:r>
              <a:endParaRPr lang="en-IN" sz="1200" dirty="0">
                <a:solidFill>
                  <a:schemeClr val="bg1"/>
                </a:solidFill>
              </a:endParaRPr>
            </a:p>
          </p:txBody>
        </p:sp>
        <p:sp>
          <p:nvSpPr>
            <p:cNvPr id="10" name="TextBox 9">
              <a:extLst>
                <a:ext uri="{FF2B5EF4-FFF2-40B4-BE49-F238E27FC236}">
                  <a16:creationId xmlns:a16="http://schemas.microsoft.com/office/drawing/2014/main" id="{1112B273-449C-D030-212F-45960A1C7DEF}"/>
                </a:ext>
              </a:extLst>
            </p:cNvPr>
            <p:cNvSpPr txBox="1"/>
            <p:nvPr/>
          </p:nvSpPr>
          <p:spPr>
            <a:xfrm>
              <a:off x="603884" y="4707094"/>
              <a:ext cx="11075579" cy="1294329"/>
            </a:xfrm>
            <a:prstGeom prst="rect">
              <a:avLst/>
            </a:prstGeom>
            <a:noFill/>
          </p:spPr>
          <p:txBody>
            <a:bodyPr wrap="square" rtlCol="0">
              <a:spAutoFit/>
            </a:bodyPr>
            <a:lstStyle/>
            <a:p>
              <a:pPr algn="just">
                <a:lnSpc>
                  <a:spcPct val="125000"/>
                </a:lnSpc>
              </a:pPr>
              <a:r>
                <a:rPr lang="en-US" sz="1600" dirty="0">
                  <a:solidFill>
                    <a:schemeClr val="bg1"/>
                  </a:solidFill>
                  <a:effectLst/>
                  <a:latin typeface="Times New Roman" panose="02020603050405020304" pitchFamily="18" charset="0"/>
                  <a:ea typeface="Calibri" panose="020F0502020204030204" pitchFamily="34" charset="0"/>
                </a:rPr>
                <a:t> It is built using Python, TensorFlow/</a:t>
              </a:r>
              <a:r>
                <a:rPr lang="en-US" sz="1600" dirty="0" err="1">
                  <a:solidFill>
                    <a:schemeClr val="bg1"/>
                  </a:solidFill>
                  <a:effectLst/>
                  <a:latin typeface="Times New Roman" panose="02020603050405020304" pitchFamily="18" charset="0"/>
                  <a:ea typeface="Calibri" panose="020F0502020204030204" pitchFamily="34" charset="0"/>
                </a:rPr>
                <a:t>Keras</a:t>
              </a:r>
              <a:r>
                <a:rPr lang="en-US" sz="1600" dirty="0">
                  <a:solidFill>
                    <a:schemeClr val="bg1"/>
                  </a:solidFill>
                  <a:effectLst/>
                  <a:latin typeface="Times New Roman" panose="02020603050405020304" pitchFamily="18" charset="0"/>
                  <a:ea typeface="Calibri" panose="020F0502020204030204" pitchFamily="34" charset="0"/>
                </a:rPr>
                <a:t>, OpenCV, scikit-learn, Grad-CAM, and </a:t>
              </a:r>
              <a:r>
                <a:rPr lang="en-US" sz="1600" dirty="0" err="1">
                  <a:solidFill>
                    <a:schemeClr val="bg1"/>
                  </a:solidFill>
                  <a:effectLst/>
                  <a:latin typeface="Times New Roman" panose="02020603050405020304" pitchFamily="18" charset="0"/>
                  <a:ea typeface="Calibri" panose="020F0502020204030204" pitchFamily="34" charset="0"/>
                </a:rPr>
                <a:t>Streamlit</a:t>
              </a:r>
              <a:r>
                <a:rPr lang="en-US" sz="1600" dirty="0">
                  <a:solidFill>
                    <a:schemeClr val="bg1"/>
                  </a:solidFill>
                  <a:effectLst/>
                  <a:latin typeface="Times New Roman" panose="02020603050405020304" pitchFamily="18" charset="0"/>
                  <a:ea typeface="Calibri" panose="020F0502020204030204" pitchFamily="34" charset="0"/>
                </a:rPr>
                <a:t>, trained on the APTOS 2019 and </a:t>
              </a:r>
              <a:r>
                <a:rPr lang="en-US" sz="1600" dirty="0" err="1">
                  <a:solidFill>
                    <a:schemeClr val="bg1"/>
                  </a:solidFill>
                  <a:effectLst/>
                  <a:latin typeface="Times New Roman" panose="02020603050405020304" pitchFamily="18" charset="0"/>
                  <a:ea typeface="Calibri" panose="020F0502020204030204" pitchFamily="34" charset="0"/>
                </a:rPr>
                <a:t>IDRiD</a:t>
              </a:r>
              <a:r>
                <a:rPr lang="en-US" sz="1600" dirty="0">
                  <a:solidFill>
                    <a:schemeClr val="bg1"/>
                  </a:solidFill>
                  <a:effectLst/>
                  <a:latin typeface="Times New Roman" panose="02020603050405020304" pitchFamily="18" charset="0"/>
                  <a:ea typeface="Calibri" panose="020F0502020204030204" pitchFamily="34" charset="0"/>
                </a:rPr>
                <a:t> datasets via Google </a:t>
              </a:r>
              <a:r>
                <a:rPr lang="en-US" sz="1600" dirty="0" err="1">
                  <a:solidFill>
                    <a:schemeClr val="bg1"/>
                  </a:solidFill>
                  <a:effectLst/>
                  <a:latin typeface="Times New Roman" panose="02020603050405020304" pitchFamily="18" charset="0"/>
                  <a:ea typeface="Calibri" panose="020F0502020204030204" pitchFamily="34" charset="0"/>
                </a:rPr>
                <a:t>Colab</a:t>
              </a:r>
              <a:r>
                <a:rPr lang="en-US" sz="1600" dirty="0">
                  <a:solidFill>
                    <a:schemeClr val="bg1"/>
                  </a:solidFill>
                  <a:effectLst/>
                  <a:latin typeface="Times New Roman" panose="02020603050405020304" pitchFamily="18" charset="0"/>
                  <a:ea typeface="Calibri" panose="020F0502020204030204" pitchFamily="34" charset="0"/>
                </a:rPr>
                <a:t>. Expected benefits include faster, low-cost, accessible DR pre-screening, reduced ophthalmologist workload through effective triage, earlier intervention that reduces irreversible vision loss, and an interpretable, trustworthy prediction system aligned with published DR-screening research standards.</a:t>
              </a:r>
              <a:endParaRPr lang="en-IN" sz="1600"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5975248"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INTRODUCTION</a:t>
            </a:r>
            <a:endParaRPr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8A7C0D36-2D4C-E31D-42FA-59F5DDA7C472}"/>
              </a:ext>
            </a:extLst>
          </p:cNvPr>
          <p:cNvSpPr txBox="1"/>
          <p:nvPr/>
        </p:nvSpPr>
        <p:spPr>
          <a:xfrm>
            <a:off x="762461" y="1705952"/>
            <a:ext cx="10667078" cy="3658759"/>
          </a:xfrm>
          <a:prstGeom prst="rect">
            <a:avLst/>
          </a:prstGeom>
          <a:noFill/>
        </p:spPr>
        <p:txBody>
          <a:bodyPr wrap="square" rtlCol="0">
            <a:spAutoFit/>
          </a:bodyPr>
          <a:lstStyle/>
          <a:p>
            <a:pPr algn="just" rtl="0">
              <a:lnSpc>
                <a:spcPct val="125000"/>
              </a:lnSpc>
            </a:pPr>
            <a:r>
              <a:rPr lang="en-US" sz="1700" dirty="0">
                <a:solidFill>
                  <a:schemeClr val="bg1">
                    <a:lumMod val="95000"/>
                  </a:schemeClr>
                </a:solidFill>
                <a:latin typeface="Times New Roman" panose="02020603050405020304" pitchFamily="18" charset="0"/>
                <a:cs typeface="Times New Roman" panose="02020603050405020304" pitchFamily="18" charset="0"/>
              </a:rPr>
              <a:t>Diabetes has become one of the most widespread chronic health conditions globally, and Diabetic Retinopathy is among its most serious complications — progressive damage to the retina's blood vessels caused by prolonged high blood sugar. Left undetected, DR can lead to permanent vision loss, and its danger lies precisely in its silence: it typically shows no symptoms until damage has already progressed significantly.</a:t>
            </a:r>
          </a:p>
          <a:p>
            <a:pPr algn="just" rtl="0">
              <a:lnSpc>
                <a:spcPct val="125000"/>
              </a:lnSpc>
            </a:pPr>
            <a:endParaRPr lang="en-US" sz="1700" dirty="0">
              <a:solidFill>
                <a:schemeClr val="bg1">
                  <a:lumMod val="95000"/>
                </a:schemeClr>
              </a:solidFill>
              <a:latin typeface="Times New Roman" panose="02020603050405020304" pitchFamily="18" charset="0"/>
              <a:cs typeface="Times New Roman" panose="02020603050405020304" pitchFamily="18" charset="0"/>
            </a:endParaRPr>
          </a:p>
          <a:p>
            <a:pPr algn="just" rtl="0">
              <a:lnSpc>
                <a:spcPct val="125000"/>
              </a:lnSpc>
            </a:pPr>
            <a:r>
              <a:rPr lang="en-US" sz="1700" dirty="0">
                <a:solidFill>
                  <a:schemeClr val="bg1">
                    <a:lumMod val="95000"/>
                  </a:schemeClr>
                </a:solidFill>
                <a:latin typeface="Times New Roman" panose="02020603050405020304" pitchFamily="18" charset="0"/>
                <a:cs typeface="Times New Roman" panose="02020603050405020304" pitchFamily="18" charset="0"/>
              </a:rPr>
              <a:t>The standard detection method — an ophthalmologist manually examining fundus images — works well where specialists are available, but does not scale to the number of diabetic patients requiring regular screening, especially where eye-care specialists are scarce. Retina-Scan applies deep learning and computer vision to automate this screening process, using transfer learning to achieve strong performance without requiring the massive datasets typically needed to train a neural network from scratch — making it a practical, achievable solution to a real healthcare accessibility gap.</a:t>
            </a:r>
          </a:p>
          <a:p>
            <a:pPr algn="just">
              <a:lnSpc>
                <a:spcPct val="125000"/>
              </a:lnSpc>
            </a:pPr>
            <a:endParaRPr lang="en-IN" sz="17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0034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47;p18" descr="image.png">
            <a:extLst>
              <a:ext uri="{FF2B5EF4-FFF2-40B4-BE49-F238E27FC236}">
                <a16:creationId xmlns:a16="http://schemas.microsoft.com/office/drawing/2014/main" id="{3002200F-658D-98AD-D297-1ABBB741845A}"/>
              </a:ext>
            </a:extLst>
          </p:cNvPr>
          <p:cNvPicPr preferRelativeResize="0"/>
          <p:nvPr/>
        </p:nvPicPr>
        <p:blipFill rotWithShape="1">
          <a:blip r:embed="rId2">
            <a:alphaModFix/>
          </a:blip>
          <a:srcRect/>
          <a:stretch/>
        </p:blipFill>
        <p:spPr>
          <a:xfrm>
            <a:off x="0" y="9832"/>
            <a:ext cx="12192000" cy="6858000"/>
          </a:xfrm>
          <a:prstGeom prst="rect">
            <a:avLst/>
          </a:prstGeom>
          <a:noFill/>
          <a:ln>
            <a:noFill/>
          </a:ln>
        </p:spPr>
      </p:pic>
      <p:sp>
        <p:nvSpPr>
          <p:cNvPr id="5" name="Google Shape;148;p18">
            <a:extLst>
              <a:ext uri="{FF2B5EF4-FFF2-40B4-BE49-F238E27FC236}">
                <a16:creationId xmlns:a16="http://schemas.microsoft.com/office/drawing/2014/main" id="{F645E666-D118-01C0-7C4E-2DAA6A1CACCF}"/>
              </a:ext>
            </a:extLst>
          </p:cNvPr>
          <p:cNvSpPr txBox="1"/>
          <p:nvPr/>
        </p:nvSpPr>
        <p:spPr>
          <a:xfrm>
            <a:off x="3686792" y="1762459"/>
            <a:ext cx="4990623"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dirty="0">
                <a:solidFill>
                  <a:srgbClr val="2DD4BF"/>
                </a:solidFill>
                <a:latin typeface="Poppins"/>
                <a:cs typeface="Poppins"/>
                <a:sym typeface="Poppins"/>
              </a:rPr>
              <a:t>PROBLEM STATEMENT</a:t>
            </a:r>
            <a:endParaRPr sz="1600" dirty="0"/>
          </a:p>
        </p:txBody>
      </p:sp>
      <p:sp>
        <p:nvSpPr>
          <p:cNvPr id="6" name="Google Shape;150;p18">
            <a:extLst>
              <a:ext uri="{FF2B5EF4-FFF2-40B4-BE49-F238E27FC236}">
                <a16:creationId xmlns:a16="http://schemas.microsoft.com/office/drawing/2014/main" id="{28F0B277-E707-BB1B-B0ED-1B15E1176946}"/>
              </a:ext>
            </a:extLst>
          </p:cNvPr>
          <p:cNvSpPr txBox="1"/>
          <p:nvPr/>
        </p:nvSpPr>
        <p:spPr>
          <a:xfrm>
            <a:off x="581025" y="2150864"/>
            <a:ext cx="5190648"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dirty="0"/>
          </a:p>
        </p:txBody>
      </p:sp>
      <p:sp>
        <p:nvSpPr>
          <p:cNvPr id="7" name="Google Shape;151;p18">
            <a:extLst>
              <a:ext uri="{FF2B5EF4-FFF2-40B4-BE49-F238E27FC236}">
                <a16:creationId xmlns:a16="http://schemas.microsoft.com/office/drawing/2014/main" id="{EB18AAB2-7473-906E-0457-F660A0E67432}"/>
              </a:ext>
            </a:extLst>
          </p:cNvPr>
          <p:cNvSpPr txBox="1"/>
          <p:nvPr/>
        </p:nvSpPr>
        <p:spPr>
          <a:xfrm>
            <a:off x="1112924" y="3013501"/>
            <a:ext cx="10439979" cy="830997"/>
          </a:xfrm>
          <a:prstGeom prst="rect">
            <a:avLst/>
          </a:prstGeom>
          <a:noFill/>
          <a:ln>
            <a:noFill/>
          </a:ln>
        </p:spPr>
        <p:txBody>
          <a:bodyPr spcFirstLastPara="1" wrap="square" lIns="0" tIns="0" rIns="0" bIns="0" anchor="t" anchorCtr="0">
            <a:spAutoFit/>
          </a:bodyPr>
          <a:lstStyle/>
          <a:p>
            <a:pPr marL="0" indent="0">
              <a:lnSpc>
                <a:spcPct val="150000"/>
              </a:lnSpc>
              <a:buNone/>
            </a:pPr>
            <a:r>
              <a:rPr lang="en-US" sz="1800" dirty="0">
                <a:solidFill>
                  <a:schemeClr val="bg1">
                    <a:lumMod val="95000"/>
                  </a:schemeClr>
                </a:solidFill>
                <a:latin typeface="Times New Roman" panose="02020603050405020304" pitchFamily="18" charset="0"/>
                <a:cs typeface="Times New Roman" panose="02020603050405020304" pitchFamily="18" charset="0"/>
              </a:rPr>
              <a:t>Early-stage Diabetic Retinopathy is asymptomatic and diagnosis depends on manual fundus grading by scarce ophthalmologists, delaying detection and motivating the need for an automated, interpretable screening system.</a:t>
            </a:r>
            <a:endParaRPr lang="en-GB" sz="1800"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8368577E-D904-1885-6AFD-DE1B572D398A}"/>
              </a:ext>
            </a:extLst>
          </p:cNvPr>
          <p:cNvSpPr txBox="1"/>
          <p:nvPr/>
        </p:nvSpPr>
        <p:spPr>
          <a:xfrm>
            <a:off x="375809" y="2155170"/>
            <a:ext cx="5601079" cy="619400"/>
          </a:xfrm>
          <a:prstGeom prst="rect">
            <a:avLst/>
          </a:prstGeom>
          <a:noFill/>
        </p:spPr>
        <p:txBody>
          <a:bodyPr wrap="square" rtlCol="0">
            <a:spAutoFit/>
          </a:bodyPr>
          <a:lstStyle/>
          <a:p>
            <a:pPr>
              <a:lnSpc>
                <a:spcPct val="150000"/>
              </a:lnSpc>
            </a:pPr>
            <a:r>
              <a:rPr lang="en-GB" sz="1350" dirty="0">
                <a:solidFill>
                  <a:schemeClr val="bg1">
                    <a:lumMod val="65000"/>
                  </a:schemeClr>
                </a:solidFill>
                <a:latin typeface="Inter" panose="020B0604020202020204" charset="0"/>
                <a:ea typeface="Inter" panose="020B0604020202020204" charset="0"/>
              </a:rPr>
              <a:t>.</a:t>
            </a:r>
          </a:p>
          <a:p>
            <a:endParaRPr lang="en-IN" dirty="0"/>
          </a:p>
        </p:txBody>
      </p:sp>
      <p:sp>
        <p:nvSpPr>
          <p:cNvPr id="9" name="Google Shape;85;p13">
            <a:extLst>
              <a:ext uri="{FF2B5EF4-FFF2-40B4-BE49-F238E27FC236}">
                <a16:creationId xmlns:a16="http://schemas.microsoft.com/office/drawing/2014/main" id="{51964971-87F4-9C8C-D6F2-F547DBA3CD71}"/>
              </a:ext>
            </a:extLst>
          </p:cNvPr>
          <p:cNvSpPr/>
          <p:nvPr/>
        </p:nvSpPr>
        <p:spPr>
          <a:xfrm>
            <a:off x="5201264" y="2447830"/>
            <a:ext cx="1326825" cy="45719"/>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3819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5975248"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EXISTING SYSTEM</a:t>
            </a:r>
            <a:endParaRPr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5" name="Group 4">
            <a:extLst>
              <a:ext uri="{FF2B5EF4-FFF2-40B4-BE49-F238E27FC236}">
                <a16:creationId xmlns:a16="http://schemas.microsoft.com/office/drawing/2014/main" id="{F02EAE55-B910-A643-79E7-8DCF4D0041B9}"/>
              </a:ext>
            </a:extLst>
          </p:cNvPr>
          <p:cNvGrpSpPr/>
          <p:nvPr/>
        </p:nvGrpSpPr>
        <p:grpSpPr>
          <a:xfrm>
            <a:off x="626744" y="1594802"/>
            <a:ext cx="11131751" cy="786754"/>
            <a:chOff x="674169" y="1604962"/>
            <a:chExt cx="11131751" cy="786754"/>
          </a:xfrm>
        </p:grpSpPr>
        <p:sp>
          <p:nvSpPr>
            <p:cNvPr id="3" name="TextBox 2">
              <a:extLst>
                <a:ext uri="{FF2B5EF4-FFF2-40B4-BE49-F238E27FC236}">
                  <a16:creationId xmlns:a16="http://schemas.microsoft.com/office/drawing/2014/main" id="{B15769E6-D046-7C63-DA41-963B20D7F85C}"/>
                </a:ext>
              </a:extLst>
            </p:cNvPr>
            <p:cNvSpPr txBox="1"/>
            <p:nvPr/>
          </p:nvSpPr>
          <p:spPr>
            <a:xfrm>
              <a:off x="985520" y="1604962"/>
              <a:ext cx="10820400" cy="786754"/>
            </a:xfrm>
            <a:prstGeom prst="rect">
              <a:avLst/>
            </a:prstGeom>
            <a:noFill/>
          </p:spPr>
          <p:txBody>
            <a:bodyPr wrap="square">
              <a:spAutoFit/>
            </a:bodyPr>
            <a:lstStyle/>
            <a:p>
              <a:pPr>
                <a:lnSpc>
                  <a:spcPct val="150000"/>
                </a:lnSpc>
              </a:pPr>
              <a:r>
                <a:rPr lang="en-US" sz="1600" b="1" u="sng" dirty="0">
                  <a:solidFill>
                    <a:schemeClr val="bg1">
                      <a:lumMod val="95000"/>
                    </a:schemeClr>
                  </a:solidFill>
                  <a:latin typeface="Times New Roman" panose="02020603050405020304" pitchFamily="18" charset="0"/>
                  <a:cs typeface="Times New Roman" panose="02020603050405020304" pitchFamily="18" charset="0"/>
                </a:rPr>
                <a:t>Manual fundus examination</a:t>
              </a:r>
              <a:r>
                <a:rPr lang="en-US" sz="1600" b="1" dirty="0">
                  <a:solidFill>
                    <a:schemeClr val="bg1">
                      <a:lumMod val="95000"/>
                    </a:schemeClr>
                  </a:solidFill>
                  <a:latin typeface="Times New Roman" panose="02020603050405020304" pitchFamily="18" charset="0"/>
                  <a:cs typeface="Times New Roman" panose="02020603050405020304" pitchFamily="18" charset="0"/>
                </a:rPr>
                <a:t>:</a:t>
              </a:r>
              <a:r>
                <a:rPr lang="en-US" sz="1600" dirty="0">
                  <a:solidFill>
                    <a:schemeClr val="bg1">
                      <a:lumMod val="95000"/>
                    </a:schemeClr>
                  </a:solidFill>
                  <a:latin typeface="Times New Roman" panose="02020603050405020304" pitchFamily="18" charset="0"/>
                  <a:cs typeface="Times New Roman" panose="02020603050405020304" pitchFamily="18" charset="0"/>
                </a:rPr>
                <a:t> An ophthalmologist visually inspects a retinal image or performs a dilated eye exam to identify microaneurysms, hemorrhages, and exudates, and assigns a severity grade based on clinical judgment.</a:t>
              </a:r>
              <a:endParaRPr lang="en-IN" sz="1600"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4" name="Google Shape;157;p18" descr="image.png">
              <a:extLst>
                <a:ext uri="{FF2B5EF4-FFF2-40B4-BE49-F238E27FC236}">
                  <a16:creationId xmlns:a16="http://schemas.microsoft.com/office/drawing/2014/main" id="{080D91B6-CF10-139F-E75B-73E3E15D9815}"/>
                </a:ext>
              </a:extLst>
            </p:cNvPr>
            <p:cNvPicPr preferRelativeResize="0"/>
            <p:nvPr/>
          </p:nvPicPr>
          <p:blipFill rotWithShape="1">
            <a:blip r:embed="rId4">
              <a:alphaModFix/>
            </a:blip>
            <a:srcRect/>
            <a:stretch/>
          </p:blipFill>
          <p:spPr>
            <a:xfrm>
              <a:off x="674169" y="1779264"/>
              <a:ext cx="209550" cy="219075"/>
            </a:xfrm>
            <a:prstGeom prst="rect">
              <a:avLst/>
            </a:prstGeom>
            <a:noFill/>
            <a:ln>
              <a:noFill/>
            </a:ln>
          </p:spPr>
        </p:pic>
      </p:grpSp>
      <p:grpSp>
        <p:nvGrpSpPr>
          <p:cNvPr id="8" name="Group 7">
            <a:extLst>
              <a:ext uri="{FF2B5EF4-FFF2-40B4-BE49-F238E27FC236}">
                <a16:creationId xmlns:a16="http://schemas.microsoft.com/office/drawing/2014/main" id="{AA464232-FC7F-9EFF-24B3-8D64C913C5EC}"/>
              </a:ext>
            </a:extLst>
          </p:cNvPr>
          <p:cNvGrpSpPr/>
          <p:nvPr/>
        </p:nvGrpSpPr>
        <p:grpSpPr>
          <a:xfrm>
            <a:off x="626744" y="2601411"/>
            <a:ext cx="11131751" cy="1525418"/>
            <a:chOff x="674169" y="1632013"/>
            <a:chExt cx="11131751" cy="1525418"/>
          </a:xfrm>
        </p:grpSpPr>
        <p:sp>
          <p:nvSpPr>
            <p:cNvPr id="9" name="TextBox 8">
              <a:extLst>
                <a:ext uri="{FF2B5EF4-FFF2-40B4-BE49-F238E27FC236}">
                  <a16:creationId xmlns:a16="http://schemas.microsoft.com/office/drawing/2014/main" id="{C13B4C20-2D81-E38D-2FCF-71B013002D7F}"/>
                </a:ext>
              </a:extLst>
            </p:cNvPr>
            <p:cNvSpPr txBox="1"/>
            <p:nvPr/>
          </p:nvSpPr>
          <p:spPr>
            <a:xfrm>
              <a:off x="985520" y="1632013"/>
              <a:ext cx="10820400" cy="1525418"/>
            </a:xfrm>
            <a:prstGeom prst="rect">
              <a:avLst/>
            </a:prstGeom>
            <a:noFill/>
          </p:spPr>
          <p:txBody>
            <a:bodyPr wrap="square">
              <a:spAutoFit/>
            </a:bodyPr>
            <a:lstStyle/>
            <a:p>
              <a:pPr>
                <a:lnSpc>
                  <a:spcPct val="150000"/>
                </a:lnSpc>
              </a:pPr>
              <a:r>
                <a:rPr lang="en-US" sz="1600" b="1" u="sng" dirty="0">
                  <a:solidFill>
                    <a:schemeClr val="bg1">
                      <a:lumMod val="95000"/>
                    </a:schemeClr>
                  </a:solidFill>
                  <a:latin typeface="Times New Roman" panose="02020603050405020304" pitchFamily="18" charset="0"/>
                  <a:cs typeface="Times New Roman" panose="02020603050405020304" pitchFamily="18" charset="0"/>
                </a:rPr>
                <a:t>Google ARDA (Automated Retinal Disease Assessment)</a:t>
              </a:r>
              <a:endParaRPr lang="en-US" sz="1600" b="1" dirty="0">
                <a:solidFill>
                  <a:schemeClr val="bg1">
                    <a:lumMod val="95000"/>
                  </a:schemeClr>
                </a:solidFill>
                <a:latin typeface="Times New Roman" panose="02020603050405020304" pitchFamily="18" charset="0"/>
                <a:cs typeface="Times New Roman" panose="02020603050405020304" pitchFamily="18" charset="0"/>
              </a:endParaRPr>
            </a:p>
            <a:p>
              <a:pPr>
                <a:lnSpc>
                  <a:spcPct val="150000"/>
                </a:lnSpc>
              </a:pPr>
              <a:r>
                <a:rPr lang="en-US" sz="1600" dirty="0">
                  <a:solidFill>
                    <a:schemeClr val="bg1">
                      <a:lumMod val="95000"/>
                    </a:schemeClr>
                  </a:solidFill>
                  <a:latin typeface="Times New Roman" panose="02020603050405020304" pitchFamily="18" charset="0"/>
                  <a:cs typeface="Times New Roman" panose="02020603050405020304" pitchFamily="18" charset="0"/>
                </a:rPr>
                <a:t> Developed by Google for diabetic retinopathy screening. </a:t>
              </a:r>
            </a:p>
            <a:p>
              <a:pPr>
                <a:lnSpc>
                  <a:spcPct val="150000"/>
                </a:lnSpc>
              </a:pPr>
              <a:r>
                <a:rPr lang="en-US" sz="1600" dirty="0">
                  <a:solidFill>
                    <a:schemeClr val="bg1">
                      <a:lumMod val="95000"/>
                    </a:schemeClr>
                  </a:solidFill>
                  <a:latin typeface="Times New Roman" panose="02020603050405020304" pitchFamily="18" charset="0"/>
                  <a:cs typeface="Times New Roman" panose="02020603050405020304" pitchFamily="18" charset="0"/>
                </a:rPr>
                <a:t>Provides high accuracy but is mainly intended for clinical settings and does not typically provide visual explanations to end users. Requires clinical infrastructure, limited public accessibility, and explainability is not the primary focus for end users.</a:t>
              </a:r>
              <a:endParaRPr lang="en-IN" sz="1600"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10" name="Google Shape;157;p18" descr="image.png">
              <a:extLst>
                <a:ext uri="{FF2B5EF4-FFF2-40B4-BE49-F238E27FC236}">
                  <a16:creationId xmlns:a16="http://schemas.microsoft.com/office/drawing/2014/main" id="{85E1C2F2-5F17-2A68-C7DF-F43F5948AE01}"/>
                </a:ext>
              </a:extLst>
            </p:cNvPr>
            <p:cNvPicPr preferRelativeResize="0"/>
            <p:nvPr/>
          </p:nvPicPr>
          <p:blipFill rotWithShape="1">
            <a:blip r:embed="rId4">
              <a:alphaModFix/>
            </a:blip>
            <a:srcRect/>
            <a:stretch/>
          </p:blipFill>
          <p:spPr>
            <a:xfrm>
              <a:off x="674169" y="1779264"/>
              <a:ext cx="209550" cy="219075"/>
            </a:xfrm>
            <a:prstGeom prst="rect">
              <a:avLst/>
            </a:prstGeom>
            <a:noFill/>
            <a:ln>
              <a:noFill/>
            </a:ln>
          </p:spPr>
        </p:pic>
      </p:grpSp>
      <p:grpSp>
        <p:nvGrpSpPr>
          <p:cNvPr id="11" name="Group 10">
            <a:extLst>
              <a:ext uri="{FF2B5EF4-FFF2-40B4-BE49-F238E27FC236}">
                <a16:creationId xmlns:a16="http://schemas.microsoft.com/office/drawing/2014/main" id="{D6C823D0-7A16-0D4B-1CE8-5A47674C41EF}"/>
              </a:ext>
            </a:extLst>
          </p:cNvPr>
          <p:cNvGrpSpPr/>
          <p:nvPr/>
        </p:nvGrpSpPr>
        <p:grpSpPr>
          <a:xfrm>
            <a:off x="581025" y="4346684"/>
            <a:ext cx="11131751" cy="1525418"/>
            <a:chOff x="674169" y="1632013"/>
            <a:chExt cx="11131751" cy="1525418"/>
          </a:xfrm>
        </p:grpSpPr>
        <p:sp>
          <p:nvSpPr>
            <p:cNvPr id="12" name="TextBox 11">
              <a:extLst>
                <a:ext uri="{FF2B5EF4-FFF2-40B4-BE49-F238E27FC236}">
                  <a16:creationId xmlns:a16="http://schemas.microsoft.com/office/drawing/2014/main" id="{EAF13994-F9A7-3051-7DC6-2E27C5119E26}"/>
                </a:ext>
              </a:extLst>
            </p:cNvPr>
            <p:cNvSpPr txBox="1"/>
            <p:nvPr/>
          </p:nvSpPr>
          <p:spPr>
            <a:xfrm>
              <a:off x="985520" y="1632013"/>
              <a:ext cx="10820400" cy="1525418"/>
            </a:xfrm>
            <a:prstGeom prst="rect">
              <a:avLst/>
            </a:prstGeom>
            <a:noFill/>
          </p:spPr>
          <p:txBody>
            <a:bodyPr wrap="square">
              <a:spAutoFit/>
            </a:bodyPr>
            <a:lstStyle/>
            <a:p>
              <a:pPr>
                <a:lnSpc>
                  <a:spcPct val="150000"/>
                </a:lnSpc>
              </a:pPr>
              <a:r>
                <a:rPr lang="en-IN" sz="1600" b="1" u="sng" dirty="0" err="1">
                  <a:solidFill>
                    <a:schemeClr val="bg1">
                      <a:lumMod val="95000"/>
                    </a:schemeClr>
                  </a:solidFill>
                  <a:latin typeface="Times New Roman" panose="02020603050405020304" pitchFamily="18" charset="0"/>
                  <a:cs typeface="Times New Roman" panose="02020603050405020304" pitchFamily="18" charset="0"/>
                </a:rPr>
                <a:t>IDx</a:t>
              </a:r>
              <a:r>
                <a:rPr lang="en-IN" sz="1600" b="1" u="sng" dirty="0">
                  <a:solidFill>
                    <a:schemeClr val="bg1">
                      <a:lumMod val="95000"/>
                    </a:schemeClr>
                  </a:solidFill>
                  <a:latin typeface="Times New Roman" panose="02020603050405020304" pitchFamily="18" charset="0"/>
                  <a:cs typeface="Times New Roman" panose="02020603050405020304" pitchFamily="18" charset="0"/>
                </a:rPr>
                <a:t>-DR (Digital Diagnostics)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0" i="0" u="none" strike="noStrike" cap="none" normalizeH="0" baseline="0" dirty="0">
                  <a:ln>
                    <a:noFill/>
                  </a:ln>
                  <a:solidFill>
                    <a:schemeClr val="bg1">
                      <a:lumMod val="95000"/>
                    </a:schemeClr>
                  </a:solidFill>
                  <a:effectLst/>
                  <a:latin typeface="Times New Roman" panose="02020603050405020304" pitchFamily="18" charset="0"/>
                  <a:cs typeface="Times New Roman" panose="02020603050405020304" pitchFamily="18" charset="0"/>
                </a:rPr>
                <a:t>An FDA-approved AI system for autonomous diabetic retinopathy screening. </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0" i="0" u="none" strike="noStrike" cap="none" normalizeH="0" baseline="0" dirty="0">
                  <a:ln>
                    <a:noFill/>
                  </a:ln>
                  <a:solidFill>
                    <a:schemeClr val="bg1">
                      <a:lumMod val="95000"/>
                    </a:schemeClr>
                  </a:solidFill>
                  <a:effectLst/>
                  <a:latin typeface="Times New Roman" panose="02020603050405020304" pitchFamily="18" charset="0"/>
                  <a:cs typeface="Times New Roman" panose="02020603050405020304" pitchFamily="18" charset="0"/>
                </a:rPr>
                <a:t>Analyzes retinal images and provides a screening recommendation. </a:t>
              </a:r>
            </a:p>
            <a:p>
              <a:pPr marL="0" marR="0" lvl="0" indent="0" algn="l" defTabSz="914400" rtl="0" eaLnBrk="0" fontAlgn="base" latinLnBrk="0" hangingPunct="0">
                <a:lnSpc>
                  <a:spcPct val="150000"/>
                </a:lnSpc>
                <a:spcBef>
                  <a:spcPct val="0"/>
                </a:spcBef>
                <a:spcAft>
                  <a:spcPct val="0"/>
                </a:spcAft>
                <a:buClrTx/>
                <a:buSzTx/>
                <a:tabLst/>
              </a:pPr>
              <a:r>
                <a:rPr lang="en-US" sz="1600" dirty="0">
                  <a:solidFill>
                    <a:schemeClr val="bg1">
                      <a:lumMod val="95000"/>
                    </a:schemeClr>
                  </a:solidFill>
                  <a:latin typeface="Times New Roman" panose="02020603050405020304" pitchFamily="18" charset="0"/>
                  <a:cs typeface="Times New Roman" panose="02020603050405020304" pitchFamily="18" charset="0"/>
                </a:rPr>
                <a:t>Requires approved retinal cameras and clinical settings; deployment can be costly for smaller clinics.</a:t>
              </a:r>
              <a:endParaRPr kumimoji="0" lang="en-US" altLang="en-US" sz="1600" b="0" i="0" u="none" strike="noStrike" cap="none" normalizeH="0" baseline="0" dirty="0">
                <a:ln>
                  <a:noFill/>
                </a:ln>
                <a:solidFill>
                  <a:schemeClr val="bg1">
                    <a:lumMod val="95000"/>
                  </a:schemeClr>
                </a:solidFill>
                <a:effectLst/>
                <a:latin typeface="Times New Roman" panose="02020603050405020304" pitchFamily="18" charset="0"/>
                <a:cs typeface="Times New Roman" panose="02020603050405020304" pitchFamily="18" charset="0"/>
              </a:endParaRPr>
            </a:p>
          </p:txBody>
        </p:sp>
        <p:pic>
          <p:nvPicPr>
            <p:cNvPr id="13" name="Google Shape;157;p18" descr="image.png">
              <a:extLst>
                <a:ext uri="{FF2B5EF4-FFF2-40B4-BE49-F238E27FC236}">
                  <a16:creationId xmlns:a16="http://schemas.microsoft.com/office/drawing/2014/main" id="{4540408A-1615-FD09-92A2-B4AC79DA5AFE}"/>
                </a:ext>
              </a:extLst>
            </p:cNvPr>
            <p:cNvPicPr preferRelativeResize="0"/>
            <p:nvPr/>
          </p:nvPicPr>
          <p:blipFill rotWithShape="1">
            <a:blip r:embed="rId4">
              <a:alphaModFix/>
            </a:blip>
            <a:srcRect/>
            <a:stretch/>
          </p:blipFill>
          <p:spPr>
            <a:xfrm>
              <a:off x="674169" y="1779264"/>
              <a:ext cx="209550" cy="219075"/>
            </a:xfrm>
            <a:prstGeom prst="rect">
              <a:avLst/>
            </a:prstGeom>
            <a:noFill/>
            <a:ln>
              <a:noFill/>
            </a:ln>
          </p:spPr>
        </p:pic>
      </p:grpSp>
    </p:spTree>
    <p:extLst>
      <p:ext uri="{BB962C8B-B14F-4D97-AF65-F5344CB8AC3E}">
        <p14:creationId xmlns:p14="http://schemas.microsoft.com/office/powerpoint/2010/main" val="13792512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5975248"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PROPOSED SYSTEM</a:t>
            </a:r>
            <a:endParaRPr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68F45A08-9ED9-F325-C86D-700FC908E78B}"/>
              </a:ext>
            </a:extLst>
          </p:cNvPr>
          <p:cNvSpPr txBox="1"/>
          <p:nvPr/>
        </p:nvSpPr>
        <p:spPr>
          <a:xfrm>
            <a:off x="820994" y="1588668"/>
            <a:ext cx="10294374" cy="646331"/>
          </a:xfrm>
          <a:prstGeom prst="rect">
            <a:avLst/>
          </a:prstGeom>
          <a:noFill/>
        </p:spPr>
        <p:txBody>
          <a:bodyPr wrap="square" rtlCol="0">
            <a:spAutoFit/>
          </a:bodyPr>
          <a:lstStyle/>
          <a:p>
            <a:pPr rtl="0"/>
            <a:r>
              <a:rPr lang="en-US" sz="1800" dirty="0">
                <a:solidFill>
                  <a:schemeClr val="bg1">
                    <a:lumMod val="95000"/>
                  </a:schemeClr>
                </a:solidFill>
                <a:latin typeface="Times New Roman" panose="02020603050405020304" pitchFamily="18" charset="0"/>
                <a:cs typeface="Times New Roman" panose="02020603050405020304" pitchFamily="18" charset="0"/>
              </a:rPr>
              <a:t>Retina-Scan proposes an automated, deep learning-based screening pipeline with the following components:</a:t>
            </a:r>
          </a:p>
          <a:p>
            <a:endParaRPr lang="en-IN" sz="1800" dirty="0">
              <a:solidFill>
                <a:schemeClr val="bg1">
                  <a:lumMod val="95000"/>
                </a:schemeClr>
              </a:solidFill>
              <a:latin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B7A28724-81E1-10B3-15B4-5119EC9D4088}"/>
              </a:ext>
            </a:extLst>
          </p:cNvPr>
          <p:cNvGrpSpPr/>
          <p:nvPr/>
        </p:nvGrpSpPr>
        <p:grpSpPr>
          <a:xfrm>
            <a:off x="580506" y="2201842"/>
            <a:ext cx="11172644" cy="3759338"/>
            <a:chOff x="497388" y="2215512"/>
            <a:chExt cx="11172644" cy="3759338"/>
          </a:xfrm>
        </p:grpSpPr>
        <p:grpSp>
          <p:nvGrpSpPr>
            <p:cNvPr id="15" name="Group 14">
              <a:extLst>
                <a:ext uri="{FF2B5EF4-FFF2-40B4-BE49-F238E27FC236}">
                  <a16:creationId xmlns:a16="http://schemas.microsoft.com/office/drawing/2014/main" id="{2D462AFB-B54D-E7A7-275A-C66A0643620F}"/>
                </a:ext>
              </a:extLst>
            </p:cNvPr>
            <p:cNvGrpSpPr/>
            <p:nvPr/>
          </p:nvGrpSpPr>
          <p:grpSpPr>
            <a:xfrm>
              <a:off x="504592" y="2215512"/>
              <a:ext cx="10814532" cy="1156086"/>
              <a:chOff x="504592" y="2215512"/>
              <a:chExt cx="10814532" cy="1156086"/>
            </a:xfrm>
          </p:grpSpPr>
          <p:sp>
            <p:nvSpPr>
              <p:cNvPr id="4" name="TextBox 3">
                <a:extLst>
                  <a:ext uri="{FF2B5EF4-FFF2-40B4-BE49-F238E27FC236}">
                    <a16:creationId xmlns:a16="http://schemas.microsoft.com/office/drawing/2014/main" id="{21B835E0-0311-D54B-8E95-25AD03E7EC95}"/>
                  </a:ext>
                </a:extLst>
              </p:cNvPr>
              <p:cNvSpPr txBox="1"/>
              <p:nvPr/>
            </p:nvSpPr>
            <p:spPr>
              <a:xfrm>
                <a:off x="769112" y="2215512"/>
                <a:ext cx="10550012" cy="1156086"/>
              </a:xfrm>
              <a:prstGeom prst="rect">
                <a:avLst/>
              </a:prstGeom>
              <a:noFill/>
            </p:spPr>
            <p:txBody>
              <a:bodyPr wrap="square" rtlCol="0">
                <a:spAutoFit/>
              </a:bodyPr>
              <a:lstStyle/>
              <a:p>
                <a:pPr>
                  <a:lnSpc>
                    <a:spcPct val="150000"/>
                  </a:lnSpc>
                </a:pPr>
                <a:r>
                  <a:rPr lang="en-US" sz="1600" b="1" dirty="0">
                    <a:solidFill>
                      <a:schemeClr val="bg1">
                        <a:lumMod val="95000"/>
                      </a:schemeClr>
                    </a:solidFill>
                    <a:latin typeface="Times New Roman" panose="02020603050405020304" pitchFamily="18" charset="0"/>
                    <a:cs typeface="Times New Roman" panose="02020603050405020304" pitchFamily="18" charset="0"/>
                  </a:rPr>
                  <a:t>Transfer learning-based classification:</a:t>
                </a:r>
                <a:r>
                  <a:rPr lang="en-US" sz="1600" dirty="0">
                    <a:solidFill>
                      <a:schemeClr val="bg1">
                        <a:lumMod val="95000"/>
                      </a:schemeClr>
                    </a:solidFill>
                    <a:latin typeface="Times New Roman" panose="02020603050405020304" pitchFamily="18" charset="0"/>
                    <a:cs typeface="Times New Roman" panose="02020603050405020304" pitchFamily="18" charset="0"/>
                  </a:rPr>
                  <a:t> A pretrained EfficientNetB0 CNN, fine-tuned on labeled retinal fundus images, classifies each image into one of five DR severity grades.</a:t>
                </a:r>
              </a:p>
              <a:p>
                <a:pPr>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8" name="Google Shape;157;p18" descr="image.png">
                <a:extLst>
                  <a:ext uri="{FF2B5EF4-FFF2-40B4-BE49-F238E27FC236}">
                    <a16:creationId xmlns:a16="http://schemas.microsoft.com/office/drawing/2014/main" id="{D4C1E77C-825A-F9FB-C0F9-05B90087C20B}"/>
                  </a:ext>
                </a:extLst>
              </p:cNvPr>
              <p:cNvPicPr preferRelativeResize="0"/>
              <p:nvPr/>
            </p:nvPicPr>
            <p:blipFill rotWithShape="1">
              <a:blip r:embed="rId4">
                <a:alphaModFix/>
              </a:blip>
              <a:srcRect/>
              <a:stretch/>
            </p:blipFill>
            <p:spPr>
              <a:xfrm>
                <a:off x="504592" y="2397427"/>
                <a:ext cx="209550" cy="219075"/>
              </a:xfrm>
              <a:prstGeom prst="rect">
                <a:avLst/>
              </a:prstGeom>
              <a:noFill/>
              <a:ln>
                <a:noFill/>
              </a:ln>
            </p:spPr>
          </p:pic>
        </p:grpSp>
        <p:grpSp>
          <p:nvGrpSpPr>
            <p:cNvPr id="14" name="Group 13">
              <a:extLst>
                <a:ext uri="{FF2B5EF4-FFF2-40B4-BE49-F238E27FC236}">
                  <a16:creationId xmlns:a16="http://schemas.microsoft.com/office/drawing/2014/main" id="{F0A6A055-5E67-A937-4E88-6B3EFFC40942}"/>
                </a:ext>
              </a:extLst>
            </p:cNvPr>
            <p:cNvGrpSpPr/>
            <p:nvPr/>
          </p:nvGrpSpPr>
          <p:grpSpPr>
            <a:xfrm>
              <a:off x="528326" y="4818764"/>
              <a:ext cx="10542452" cy="1156086"/>
              <a:chOff x="521034" y="2916579"/>
              <a:chExt cx="10542452" cy="1156086"/>
            </a:xfrm>
          </p:grpSpPr>
          <p:sp>
            <p:nvSpPr>
              <p:cNvPr id="7" name="TextBox 6">
                <a:extLst>
                  <a:ext uri="{FF2B5EF4-FFF2-40B4-BE49-F238E27FC236}">
                    <a16:creationId xmlns:a16="http://schemas.microsoft.com/office/drawing/2014/main" id="{CA0B5D81-084A-2FA9-5D6C-26824D1C2405}"/>
                  </a:ext>
                </a:extLst>
              </p:cNvPr>
              <p:cNvSpPr txBox="1"/>
              <p:nvPr/>
            </p:nvSpPr>
            <p:spPr>
              <a:xfrm>
                <a:off x="769112" y="2916579"/>
                <a:ext cx="10294374" cy="1156086"/>
              </a:xfrm>
              <a:prstGeom prst="rect">
                <a:avLst/>
              </a:prstGeom>
              <a:noFill/>
            </p:spPr>
            <p:txBody>
              <a:bodyPr wrap="square" rtlCol="0">
                <a:spAutoFit/>
              </a:bodyPr>
              <a:lstStyle/>
              <a:p>
                <a:pPr>
                  <a:lnSpc>
                    <a:spcPct val="150000"/>
                  </a:lnSpc>
                </a:pPr>
                <a:r>
                  <a:rPr lang="en-US" sz="1600" b="1" dirty="0">
                    <a:solidFill>
                      <a:schemeClr val="bg1">
                        <a:lumMod val="95000"/>
                      </a:schemeClr>
                    </a:solidFill>
                    <a:latin typeface="Times New Roman" panose="02020603050405020304" pitchFamily="18" charset="0"/>
                    <a:cs typeface="Times New Roman" panose="02020603050405020304" pitchFamily="18" charset="0"/>
                  </a:rPr>
                  <a:t>Web-based deployment:</a:t>
                </a:r>
                <a:r>
                  <a:rPr lang="en-US" sz="1600" dirty="0">
                    <a:solidFill>
                      <a:schemeClr val="bg1">
                        <a:lumMod val="95000"/>
                      </a:schemeClr>
                    </a:solidFill>
                    <a:latin typeface="Times New Roman" panose="02020603050405020304" pitchFamily="18" charset="0"/>
                    <a:cs typeface="Times New Roman" panose="02020603050405020304" pitchFamily="18" charset="0"/>
                  </a:rPr>
                  <a:t> A simple interface where a clinic technician uploads a fundus image and instantly receives a severity grade, confidence score, and explanatory heatmap.</a:t>
                </a:r>
              </a:p>
              <a:p>
                <a:pPr>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9" name="Google Shape;157;p18" descr="image.png">
                <a:extLst>
                  <a:ext uri="{FF2B5EF4-FFF2-40B4-BE49-F238E27FC236}">
                    <a16:creationId xmlns:a16="http://schemas.microsoft.com/office/drawing/2014/main" id="{C65FDBDE-ACA6-6018-7299-0D36D6449037}"/>
                  </a:ext>
                </a:extLst>
              </p:cNvPr>
              <p:cNvPicPr preferRelativeResize="0"/>
              <p:nvPr/>
            </p:nvPicPr>
            <p:blipFill rotWithShape="1">
              <a:blip r:embed="rId4">
                <a:alphaModFix/>
              </a:blip>
              <a:srcRect/>
              <a:stretch/>
            </p:blipFill>
            <p:spPr>
              <a:xfrm>
                <a:off x="521034" y="3075144"/>
                <a:ext cx="209550" cy="219075"/>
              </a:xfrm>
              <a:prstGeom prst="rect">
                <a:avLst/>
              </a:prstGeom>
              <a:noFill/>
              <a:ln>
                <a:noFill/>
              </a:ln>
            </p:spPr>
          </p:pic>
        </p:grpSp>
        <p:grpSp>
          <p:nvGrpSpPr>
            <p:cNvPr id="13" name="Group 12">
              <a:extLst>
                <a:ext uri="{FF2B5EF4-FFF2-40B4-BE49-F238E27FC236}">
                  <a16:creationId xmlns:a16="http://schemas.microsoft.com/office/drawing/2014/main" id="{FD69B7D6-07DD-09CA-4EF1-91235B761326}"/>
                </a:ext>
              </a:extLst>
            </p:cNvPr>
            <p:cNvGrpSpPr/>
            <p:nvPr/>
          </p:nvGrpSpPr>
          <p:grpSpPr>
            <a:xfrm>
              <a:off x="497388" y="3063946"/>
              <a:ext cx="11172644" cy="1156086"/>
              <a:chOff x="511322" y="3748586"/>
              <a:chExt cx="11903176" cy="1156086"/>
            </a:xfrm>
          </p:grpSpPr>
          <p:sp>
            <p:nvSpPr>
              <p:cNvPr id="6" name="TextBox 5">
                <a:extLst>
                  <a:ext uri="{FF2B5EF4-FFF2-40B4-BE49-F238E27FC236}">
                    <a16:creationId xmlns:a16="http://schemas.microsoft.com/office/drawing/2014/main" id="{0F160F53-C270-BBA5-9623-345EA638EB76}"/>
                  </a:ext>
                </a:extLst>
              </p:cNvPr>
              <p:cNvSpPr txBox="1"/>
              <p:nvPr/>
            </p:nvSpPr>
            <p:spPr>
              <a:xfrm>
                <a:off x="763272" y="3748586"/>
                <a:ext cx="11651226" cy="1156086"/>
              </a:xfrm>
              <a:prstGeom prst="rect">
                <a:avLst/>
              </a:prstGeom>
              <a:noFill/>
            </p:spPr>
            <p:txBody>
              <a:bodyPr wrap="square" rtlCol="0">
                <a:spAutoFit/>
              </a:bodyPr>
              <a:lstStyle/>
              <a:p>
                <a:pPr>
                  <a:lnSpc>
                    <a:spcPct val="150000"/>
                  </a:lnSpc>
                </a:pPr>
                <a:r>
                  <a:rPr lang="en-US" sz="1600" b="1" dirty="0">
                    <a:solidFill>
                      <a:schemeClr val="bg1">
                        <a:lumMod val="95000"/>
                      </a:schemeClr>
                    </a:solidFill>
                    <a:latin typeface="Times New Roman" panose="02020603050405020304" pitchFamily="18" charset="0"/>
                    <a:cs typeface="Times New Roman" panose="02020603050405020304" pitchFamily="18" charset="0"/>
                  </a:rPr>
                  <a:t>Explainable AI (Grad-CAM):</a:t>
                </a:r>
                <a:r>
                  <a:rPr lang="en-US" sz="1600" dirty="0">
                    <a:solidFill>
                      <a:schemeClr val="bg1">
                        <a:lumMod val="95000"/>
                      </a:schemeClr>
                    </a:solidFill>
                    <a:latin typeface="Times New Roman" panose="02020603050405020304" pitchFamily="18" charset="0"/>
                    <a:cs typeface="Times New Roman" panose="02020603050405020304" pitchFamily="18" charset="0"/>
                  </a:rPr>
                  <a:t> Every prediction is accompanied by a heatmap showing which retinal regions influenced the model's decision, improving interpretability and clinical trust compared to a black-box output.</a:t>
                </a:r>
              </a:p>
              <a:p>
                <a:pPr>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10" name="Google Shape;157;p18" descr="image.png">
                <a:extLst>
                  <a:ext uri="{FF2B5EF4-FFF2-40B4-BE49-F238E27FC236}">
                    <a16:creationId xmlns:a16="http://schemas.microsoft.com/office/drawing/2014/main" id="{82413426-593C-35F0-A253-BEEED29ED557}"/>
                  </a:ext>
                </a:extLst>
              </p:cNvPr>
              <p:cNvPicPr preferRelativeResize="0"/>
              <p:nvPr/>
            </p:nvPicPr>
            <p:blipFill rotWithShape="1">
              <a:blip r:embed="rId4">
                <a:alphaModFix/>
              </a:blip>
              <a:srcRect/>
              <a:stretch/>
            </p:blipFill>
            <p:spPr>
              <a:xfrm>
                <a:off x="511322" y="3909850"/>
                <a:ext cx="209550" cy="219075"/>
              </a:xfrm>
              <a:prstGeom prst="rect">
                <a:avLst/>
              </a:prstGeom>
              <a:noFill/>
              <a:ln>
                <a:noFill/>
              </a:ln>
            </p:spPr>
          </p:pic>
        </p:grpSp>
        <p:grpSp>
          <p:nvGrpSpPr>
            <p:cNvPr id="12" name="Group 11">
              <a:extLst>
                <a:ext uri="{FF2B5EF4-FFF2-40B4-BE49-F238E27FC236}">
                  <a16:creationId xmlns:a16="http://schemas.microsoft.com/office/drawing/2014/main" id="{C85FACE4-3ADA-7DEF-FFD8-563BE53F14DA}"/>
                </a:ext>
              </a:extLst>
            </p:cNvPr>
            <p:cNvGrpSpPr/>
            <p:nvPr/>
          </p:nvGrpSpPr>
          <p:grpSpPr>
            <a:xfrm>
              <a:off x="499846" y="3979858"/>
              <a:ext cx="11151379" cy="786754"/>
              <a:chOff x="518652" y="4640031"/>
              <a:chExt cx="11151379" cy="786754"/>
            </a:xfrm>
          </p:grpSpPr>
          <p:sp>
            <p:nvSpPr>
              <p:cNvPr id="3" name="TextBox 2">
                <a:extLst>
                  <a:ext uri="{FF2B5EF4-FFF2-40B4-BE49-F238E27FC236}">
                    <a16:creationId xmlns:a16="http://schemas.microsoft.com/office/drawing/2014/main" id="{C1F1233C-8E66-FB24-275F-8AF6FEE66189}"/>
                  </a:ext>
                </a:extLst>
              </p:cNvPr>
              <p:cNvSpPr txBox="1"/>
              <p:nvPr/>
            </p:nvSpPr>
            <p:spPr>
              <a:xfrm>
                <a:off x="698091" y="4640031"/>
                <a:ext cx="10971940" cy="786754"/>
              </a:xfrm>
              <a:prstGeom prst="rect">
                <a:avLst/>
              </a:prstGeom>
              <a:noFill/>
            </p:spPr>
            <p:txBody>
              <a:bodyPr wrap="square" rtlCol="0">
                <a:spAutoFit/>
              </a:bodyPr>
              <a:lstStyle/>
              <a:p>
                <a:pPr rtl="0">
                  <a:lnSpc>
                    <a:spcPct val="150000"/>
                  </a:lnSpc>
                  <a:buFont typeface="Arial" panose="020B0604020202020204" pitchFamily="34" charset="0"/>
                  <a:buChar char="•"/>
                </a:pPr>
                <a:r>
                  <a:rPr lang="en-US" sz="1600" b="1" dirty="0">
                    <a:solidFill>
                      <a:schemeClr val="bg1">
                        <a:lumMod val="95000"/>
                      </a:schemeClr>
                    </a:solidFill>
                    <a:latin typeface="Times New Roman" panose="02020603050405020304" pitchFamily="18" charset="0"/>
                    <a:cs typeface="Times New Roman" panose="02020603050405020304" pitchFamily="18" charset="0"/>
                  </a:rPr>
                  <a:t>Image preprocessing:</a:t>
                </a:r>
                <a:r>
                  <a:rPr lang="en-US" sz="1600" dirty="0">
                    <a:solidFill>
                      <a:schemeClr val="bg1">
                        <a:lumMod val="95000"/>
                      </a:schemeClr>
                    </a:solidFill>
                    <a:latin typeface="Times New Roman" panose="02020603050405020304" pitchFamily="18" charset="0"/>
                    <a:cs typeface="Times New Roman" panose="02020603050405020304" pitchFamily="18" charset="0"/>
                  </a:rPr>
                  <a:t> CLAHE (Contrast Limited Adaptive Histogram Equalization) enhances the visibility of microaneurysms, hemorrhages, and exudates that might otherwise be missed in poorly lit or low-contrast images.</a:t>
                </a:r>
              </a:p>
            </p:txBody>
          </p:sp>
          <p:pic>
            <p:nvPicPr>
              <p:cNvPr id="11" name="Google Shape;157;p18" descr="image.png">
                <a:extLst>
                  <a:ext uri="{FF2B5EF4-FFF2-40B4-BE49-F238E27FC236}">
                    <a16:creationId xmlns:a16="http://schemas.microsoft.com/office/drawing/2014/main" id="{3C193B1E-094E-A1A4-F43F-EF23C07EC806}"/>
                  </a:ext>
                </a:extLst>
              </p:cNvPr>
              <p:cNvPicPr preferRelativeResize="0"/>
              <p:nvPr/>
            </p:nvPicPr>
            <p:blipFill rotWithShape="1">
              <a:blip r:embed="rId4">
                <a:alphaModFix/>
              </a:blip>
              <a:srcRect/>
              <a:stretch/>
            </p:blipFill>
            <p:spPr>
              <a:xfrm>
                <a:off x="518652" y="4793212"/>
                <a:ext cx="209550" cy="219075"/>
              </a:xfrm>
              <a:prstGeom prst="rect">
                <a:avLst/>
              </a:prstGeom>
              <a:noFill/>
              <a:ln>
                <a:noFill/>
              </a:ln>
            </p:spPr>
          </p:pic>
        </p:grpSp>
      </p:grpSp>
    </p:spTree>
    <p:extLst>
      <p:ext uri="{BB962C8B-B14F-4D97-AF65-F5344CB8AC3E}">
        <p14:creationId xmlns:p14="http://schemas.microsoft.com/office/powerpoint/2010/main" val="1654156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9446604"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FUNCTIONAL AND NON-FUNCTIONAL REQUIREMENT</a:t>
            </a:r>
            <a:endParaRPr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Google Shape;165;p19" descr="image.png">
            <a:extLst>
              <a:ext uri="{FF2B5EF4-FFF2-40B4-BE49-F238E27FC236}">
                <a16:creationId xmlns:a16="http://schemas.microsoft.com/office/drawing/2014/main" id="{8B663CCA-FD6B-4818-41A8-B19F780BF17A}"/>
              </a:ext>
            </a:extLst>
          </p:cNvPr>
          <p:cNvPicPr preferRelativeResize="0"/>
          <p:nvPr/>
        </p:nvPicPr>
        <p:blipFill rotWithShape="1">
          <a:blip r:embed="rId4">
            <a:alphaModFix/>
          </a:blip>
          <a:srcRect/>
          <a:stretch/>
        </p:blipFill>
        <p:spPr>
          <a:xfrm>
            <a:off x="6449959" y="1617527"/>
            <a:ext cx="5185902" cy="4695212"/>
          </a:xfrm>
          <a:prstGeom prst="rect">
            <a:avLst/>
          </a:prstGeom>
          <a:noFill/>
          <a:ln>
            <a:noFill/>
          </a:ln>
        </p:spPr>
      </p:pic>
      <p:pic>
        <p:nvPicPr>
          <p:cNvPr id="4" name="Google Shape;165;p19" descr="image.png">
            <a:extLst>
              <a:ext uri="{FF2B5EF4-FFF2-40B4-BE49-F238E27FC236}">
                <a16:creationId xmlns:a16="http://schemas.microsoft.com/office/drawing/2014/main" id="{CB3132F8-5696-3B1D-ED72-B90C03E9EB8C}"/>
              </a:ext>
            </a:extLst>
          </p:cNvPr>
          <p:cNvPicPr preferRelativeResize="0"/>
          <p:nvPr/>
        </p:nvPicPr>
        <p:blipFill rotWithShape="1">
          <a:blip r:embed="rId4">
            <a:alphaModFix/>
          </a:blip>
          <a:srcRect/>
          <a:stretch/>
        </p:blipFill>
        <p:spPr>
          <a:xfrm>
            <a:off x="556138" y="1571231"/>
            <a:ext cx="5185902" cy="4695212"/>
          </a:xfrm>
          <a:prstGeom prst="rect">
            <a:avLst/>
          </a:prstGeom>
          <a:noFill/>
          <a:ln>
            <a:noFill/>
          </a:ln>
        </p:spPr>
      </p:pic>
      <p:sp>
        <p:nvSpPr>
          <p:cNvPr id="5" name="Google Shape;168;p19">
            <a:extLst>
              <a:ext uri="{FF2B5EF4-FFF2-40B4-BE49-F238E27FC236}">
                <a16:creationId xmlns:a16="http://schemas.microsoft.com/office/drawing/2014/main" id="{120F2FD2-4FDE-70EB-BEC5-668AEA42C514}"/>
              </a:ext>
            </a:extLst>
          </p:cNvPr>
          <p:cNvSpPr txBox="1"/>
          <p:nvPr/>
        </p:nvSpPr>
        <p:spPr>
          <a:xfrm>
            <a:off x="1140542" y="2035306"/>
            <a:ext cx="3991897"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F1F5F9"/>
                </a:solidFill>
                <a:latin typeface="Poppins"/>
                <a:ea typeface="Poppins"/>
                <a:cs typeface="Poppins"/>
                <a:sym typeface="Poppins"/>
              </a:rPr>
              <a:t>FUNCTIONAL REQUIREMENT</a:t>
            </a:r>
            <a:endParaRPr dirty="0"/>
          </a:p>
        </p:txBody>
      </p:sp>
      <p:sp>
        <p:nvSpPr>
          <p:cNvPr id="7" name="Google Shape;168;p19">
            <a:extLst>
              <a:ext uri="{FF2B5EF4-FFF2-40B4-BE49-F238E27FC236}">
                <a16:creationId xmlns:a16="http://schemas.microsoft.com/office/drawing/2014/main" id="{E63E7B03-DB35-41C7-7C12-FBC5F4E6C1D0}"/>
              </a:ext>
            </a:extLst>
          </p:cNvPr>
          <p:cNvSpPr txBox="1"/>
          <p:nvPr/>
        </p:nvSpPr>
        <p:spPr>
          <a:xfrm>
            <a:off x="6670879" y="2035306"/>
            <a:ext cx="4744065"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F1F5F9"/>
                </a:solidFill>
                <a:latin typeface="Poppins"/>
                <a:ea typeface="Poppins"/>
                <a:cs typeface="Poppins"/>
                <a:sym typeface="Poppins"/>
              </a:rPr>
              <a:t>NON-FUNCTIONAL REQUIREMENT</a:t>
            </a:r>
            <a:endParaRPr dirty="0"/>
          </a:p>
        </p:txBody>
      </p:sp>
      <p:sp>
        <p:nvSpPr>
          <p:cNvPr id="11" name="Rectangle 3">
            <a:extLst>
              <a:ext uri="{FF2B5EF4-FFF2-40B4-BE49-F238E27FC236}">
                <a16:creationId xmlns:a16="http://schemas.microsoft.com/office/drawing/2014/main" id="{2EFC62CD-5A49-BCAC-B26D-9C97B41AEA76}"/>
              </a:ext>
            </a:extLst>
          </p:cNvPr>
          <p:cNvSpPr>
            <a:spLocks noChangeArrowheads="1"/>
          </p:cNvSpPr>
          <p:nvPr/>
        </p:nvSpPr>
        <p:spPr bwMode="auto">
          <a:xfrm>
            <a:off x="778944" y="2643498"/>
            <a:ext cx="4788526" cy="300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ClrTx/>
              <a:buFont typeface="Wingdings" panose="05000000000000000000" pitchFamily="2" charset="2"/>
              <a:buChar char="v"/>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Accept retinal fundus image (JPG/JPEG/PNG). </a:t>
            </a:r>
          </a:p>
          <a:p>
            <a:pPr marL="285750" lvl="0" indent="-285750" eaLnBrk="0" fontAlgn="base" hangingPunct="0">
              <a:lnSpc>
                <a:spcPct val="150000"/>
              </a:lnSpc>
              <a:spcBef>
                <a:spcPct val="0"/>
              </a:spcBef>
              <a:spcAft>
                <a:spcPct val="0"/>
              </a:spcAft>
              <a:buClrTx/>
              <a:buFont typeface="Wingdings" panose="05000000000000000000" pitchFamily="2" charset="2"/>
              <a:buChar char="v"/>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Preprocess the image using </a:t>
            </a:r>
            <a:r>
              <a:rPr lang="en-US" altLang="en-US" sz="1600" b="1" dirty="0">
                <a:solidFill>
                  <a:schemeClr val="bg1">
                    <a:lumMod val="95000"/>
                  </a:schemeClr>
                </a:solidFill>
                <a:latin typeface="Times New Roman" panose="02020603050405020304" pitchFamily="18" charset="0"/>
                <a:cs typeface="Times New Roman" panose="02020603050405020304" pitchFamily="18" charset="0"/>
              </a:rPr>
              <a:t>CLAHE</a:t>
            </a:r>
            <a:r>
              <a:rPr lang="en-US" altLang="en-US" sz="1600" dirty="0">
                <a:solidFill>
                  <a:schemeClr val="bg1">
                    <a:lumMod val="95000"/>
                  </a:schemeClr>
                </a:solidFill>
                <a:latin typeface="Times New Roman" panose="02020603050405020304" pitchFamily="18" charset="0"/>
                <a:cs typeface="Times New Roman" panose="02020603050405020304" pitchFamily="18" charset="0"/>
              </a:rPr>
              <a:t>, resizing, and normalization. </a:t>
            </a:r>
          </a:p>
          <a:p>
            <a:pPr marL="285750" lvl="0" indent="-285750" eaLnBrk="0" fontAlgn="base" hangingPunct="0">
              <a:lnSpc>
                <a:spcPct val="150000"/>
              </a:lnSpc>
              <a:spcBef>
                <a:spcPct val="0"/>
              </a:spcBef>
              <a:spcAft>
                <a:spcPct val="0"/>
              </a:spcAft>
              <a:buClrTx/>
              <a:buFont typeface="Wingdings" panose="05000000000000000000" pitchFamily="2" charset="2"/>
              <a:buChar char="v"/>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Classify the image into one of </a:t>
            </a:r>
            <a:r>
              <a:rPr lang="en-US" altLang="en-US" sz="1600" b="1" dirty="0">
                <a:solidFill>
                  <a:schemeClr val="bg1">
                    <a:lumMod val="95000"/>
                  </a:schemeClr>
                </a:solidFill>
                <a:latin typeface="Times New Roman" panose="02020603050405020304" pitchFamily="18" charset="0"/>
                <a:cs typeface="Times New Roman" panose="02020603050405020304" pitchFamily="18" charset="0"/>
              </a:rPr>
              <a:t>five DR severity levels</a:t>
            </a:r>
            <a:r>
              <a:rPr lang="en-US" altLang="en-US" sz="1600" dirty="0">
                <a:solidFill>
                  <a:schemeClr val="bg1">
                    <a:lumMod val="95000"/>
                  </a:schemeClr>
                </a:solidFill>
                <a:latin typeface="Times New Roman" panose="02020603050405020304" pitchFamily="18" charset="0"/>
                <a:cs typeface="Times New Roman" panose="02020603050405020304" pitchFamily="18" charset="0"/>
              </a:rPr>
              <a:t>. </a:t>
            </a:r>
          </a:p>
          <a:p>
            <a:pPr marL="285750" lvl="0" indent="-285750" eaLnBrk="0" fontAlgn="base" hangingPunct="0">
              <a:lnSpc>
                <a:spcPct val="150000"/>
              </a:lnSpc>
              <a:spcBef>
                <a:spcPct val="0"/>
              </a:spcBef>
              <a:spcAft>
                <a:spcPct val="0"/>
              </a:spcAft>
              <a:buClrTx/>
              <a:buFont typeface="Wingdings" panose="05000000000000000000" pitchFamily="2" charset="2"/>
              <a:buChar char="v"/>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Display the predicted DR stage. </a:t>
            </a:r>
          </a:p>
          <a:p>
            <a:pPr marL="285750" lvl="0" indent="-285750" eaLnBrk="0" fontAlgn="base" hangingPunct="0">
              <a:lnSpc>
                <a:spcPct val="150000"/>
              </a:lnSpc>
              <a:spcBef>
                <a:spcPct val="0"/>
              </a:spcBef>
              <a:spcAft>
                <a:spcPct val="0"/>
              </a:spcAft>
              <a:buClrTx/>
              <a:buFont typeface="Wingdings" panose="05000000000000000000" pitchFamily="2" charset="2"/>
              <a:buChar char="v"/>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Generate a </a:t>
            </a:r>
            <a:r>
              <a:rPr lang="en-US" altLang="en-US" sz="1600" b="1" dirty="0">
                <a:solidFill>
                  <a:schemeClr val="bg1">
                    <a:lumMod val="95000"/>
                  </a:schemeClr>
                </a:solidFill>
                <a:latin typeface="Times New Roman" panose="02020603050405020304" pitchFamily="18" charset="0"/>
                <a:cs typeface="Times New Roman" panose="02020603050405020304" pitchFamily="18" charset="0"/>
              </a:rPr>
              <a:t>Grad-CAM heatmap</a:t>
            </a:r>
            <a:r>
              <a:rPr lang="en-US" altLang="en-US" sz="1600" dirty="0">
                <a:solidFill>
                  <a:schemeClr val="bg1">
                    <a:lumMod val="95000"/>
                  </a:schemeClr>
                </a:solidFill>
                <a:latin typeface="Times New Roman" panose="02020603050405020304" pitchFamily="18" charset="0"/>
                <a:cs typeface="Times New Roman" panose="02020603050405020304" pitchFamily="18" charset="0"/>
              </a:rPr>
              <a:t> for explainability. </a:t>
            </a:r>
          </a:p>
          <a:p>
            <a:pPr marL="285750" lvl="0" indent="-285750" eaLnBrk="0" fontAlgn="base" hangingPunct="0">
              <a:lnSpc>
                <a:spcPct val="150000"/>
              </a:lnSpc>
              <a:spcBef>
                <a:spcPct val="0"/>
              </a:spcBef>
              <a:spcAft>
                <a:spcPct val="0"/>
              </a:spcAft>
              <a:buClrTx/>
              <a:buFont typeface="Wingdings" panose="05000000000000000000" pitchFamily="2" charset="2"/>
              <a:buChar char="v"/>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Display the screening result </a:t>
            </a:r>
          </a:p>
        </p:txBody>
      </p:sp>
      <p:sp>
        <p:nvSpPr>
          <p:cNvPr id="12" name="Rectangle 4">
            <a:extLst>
              <a:ext uri="{FF2B5EF4-FFF2-40B4-BE49-F238E27FC236}">
                <a16:creationId xmlns:a16="http://schemas.microsoft.com/office/drawing/2014/main" id="{ACEB02DE-576D-8B92-E6F7-8EE0FB00D576}"/>
              </a:ext>
            </a:extLst>
          </p:cNvPr>
          <p:cNvSpPr>
            <a:spLocks noChangeArrowheads="1"/>
          </p:cNvSpPr>
          <p:nvPr/>
        </p:nvSpPr>
        <p:spPr bwMode="auto">
          <a:xfrm>
            <a:off x="6633876" y="2643498"/>
            <a:ext cx="4818069" cy="3140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25000"/>
              </a:lnSpc>
              <a:spcBef>
                <a:spcPct val="0"/>
              </a:spcBef>
              <a:spcAft>
                <a:spcPct val="0"/>
              </a:spcAft>
              <a:buClrTx/>
              <a:buFont typeface="Wingdings" panose="05000000000000000000" pitchFamily="2" charset="2"/>
              <a:buChar char="v"/>
            </a:pPr>
            <a:r>
              <a:rPr lang="en-US" altLang="en-US" sz="1600" b="1" dirty="0">
                <a:solidFill>
                  <a:schemeClr val="bg1">
                    <a:lumMod val="95000"/>
                  </a:schemeClr>
                </a:solidFill>
                <a:latin typeface="Times New Roman" panose="02020603050405020304" pitchFamily="18" charset="0"/>
                <a:cs typeface="Times New Roman" panose="02020603050405020304" pitchFamily="18" charset="0"/>
              </a:rPr>
              <a:t>High Accuracy</a:t>
            </a:r>
            <a:r>
              <a:rPr lang="en-US" altLang="en-US" sz="1600" dirty="0">
                <a:solidFill>
                  <a:schemeClr val="bg1">
                    <a:lumMod val="95000"/>
                  </a:schemeClr>
                </a:solidFill>
                <a:latin typeface="Times New Roman" panose="02020603050405020304" pitchFamily="18" charset="0"/>
                <a:cs typeface="Times New Roman" panose="02020603050405020304" pitchFamily="18" charset="0"/>
              </a:rPr>
              <a:t> – Provide reliable diabetic retinopathy predictions. </a:t>
            </a:r>
          </a:p>
          <a:p>
            <a:pPr marL="285750" lvl="0" indent="-285750" eaLnBrk="0" fontAlgn="base" hangingPunct="0">
              <a:lnSpc>
                <a:spcPct val="125000"/>
              </a:lnSpc>
              <a:spcBef>
                <a:spcPct val="0"/>
              </a:spcBef>
              <a:spcAft>
                <a:spcPct val="0"/>
              </a:spcAft>
              <a:buClrTx/>
              <a:buFont typeface="Wingdings" panose="05000000000000000000" pitchFamily="2" charset="2"/>
              <a:buChar char="v"/>
            </a:pPr>
            <a:r>
              <a:rPr lang="en-US" altLang="en-US" sz="1600" b="1" dirty="0">
                <a:solidFill>
                  <a:schemeClr val="bg1">
                    <a:lumMod val="95000"/>
                  </a:schemeClr>
                </a:solidFill>
                <a:latin typeface="Times New Roman" panose="02020603050405020304" pitchFamily="18" charset="0"/>
                <a:cs typeface="Times New Roman" panose="02020603050405020304" pitchFamily="18" charset="0"/>
              </a:rPr>
              <a:t>Fast Performance</a:t>
            </a:r>
            <a:r>
              <a:rPr lang="en-US" altLang="en-US" sz="1600" dirty="0">
                <a:solidFill>
                  <a:schemeClr val="bg1">
                    <a:lumMod val="95000"/>
                  </a:schemeClr>
                </a:solidFill>
                <a:latin typeface="Times New Roman" panose="02020603050405020304" pitchFamily="18" charset="0"/>
                <a:cs typeface="Times New Roman" panose="02020603050405020304" pitchFamily="18" charset="0"/>
              </a:rPr>
              <a:t> – Generate results within a few seconds. </a:t>
            </a:r>
          </a:p>
          <a:p>
            <a:pPr marL="285750" lvl="0" indent="-285750" eaLnBrk="0" fontAlgn="base" hangingPunct="0">
              <a:lnSpc>
                <a:spcPct val="125000"/>
              </a:lnSpc>
              <a:spcBef>
                <a:spcPct val="0"/>
              </a:spcBef>
              <a:spcAft>
                <a:spcPct val="0"/>
              </a:spcAft>
              <a:buClrTx/>
              <a:buFont typeface="Wingdings" panose="05000000000000000000" pitchFamily="2" charset="2"/>
              <a:buChar char="v"/>
            </a:pPr>
            <a:r>
              <a:rPr lang="en-US" altLang="en-US" sz="1600" b="1" dirty="0">
                <a:solidFill>
                  <a:schemeClr val="bg1">
                    <a:lumMod val="95000"/>
                  </a:schemeClr>
                </a:solidFill>
                <a:latin typeface="Times New Roman" panose="02020603050405020304" pitchFamily="18" charset="0"/>
                <a:cs typeface="Times New Roman" panose="02020603050405020304" pitchFamily="18" charset="0"/>
              </a:rPr>
              <a:t>Reliability</a:t>
            </a:r>
            <a:r>
              <a:rPr lang="en-US" altLang="en-US" sz="1600" dirty="0">
                <a:solidFill>
                  <a:schemeClr val="bg1">
                    <a:lumMod val="95000"/>
                  </a:schemeClr>
                </a:solidFill>
                <a:latin typeface="Times New Roman" panose="02020603050405020304" pitchFamily="18" charset="0"/>
                <a:cs typeface="Times New Roman" panose="02020603050405020304" pitchFamily="18" charset="0"/>
              </a:rPr>
              <a:t> – Produce consistent predictions for similar images. </a:t>
            </a:r>
          </a:p>
          <a:p>
            <a:pPr marL="285750" lvl="0" indent="-285750" eaLnBrk="0" fontAlgn="base" hangingPunct="0">
              <a:lnSpc>
                <a:spcPct val="125000"/>
              </a:lnSpc>
              <a:spcBef>
                <a:spcPct val="0"/>
              </a:spcBef>
              <a:spcAft>
                <a:spcPct val="0"/>
              </a:spcAft>
              <a:buClrTx/>
              <a:buFont typeface="Wingdings" panose="05000000000000000000" pitchFamily="2" charset="2"/>
              <a:buChar char="v"/>
            </a:pPr>
            <a:r>
              <a:rPr lang="en-US" sz="1600" b="1" dirty="0">
                <a:solidFill>
                  <a:schemeClr val="bg1">
                    <a:lumMod val="95000"/>
                  </a:schemeClr>
                </a:solidFill>
                <a:latin typeface="Times New Roman" panose="02020603050405020304" pitchFamily="18" charset="0"/>
                <a:cs typeface="Times New Roman" panose="02020603050405020304" pitchFamily="18" charset="0"/>
              </a:rPr>
              <a:t>Scalability</a:t>
            </a:r>
            <a:r>
              <a:rPr lang="en-US" sz="1600" dirty="0">
                <a:solidFill>
                  <a:schemeClr val="bg1">
                    <a:lumMod val="95000"/>
                  </a:schemeClr>
                </a:solidFill>
                <a:latin typeface="Times New Roman" panose="02020603050405020304" pitchFamily="18" charset="0"/>
                <a:cs typeface="Times New Roman" panose="02020603050405020304" pitchFamily="18" charset="0"/>
              </a:rPr>
              <a:t> – Support multiple users and future dataset expansion.</a:t>
            </a:r>
          </a:p>
          <a:p>
            <a:pPr marL="285750" lvl="0" indent="-285750" eaLnBrk="0" fontAlgn="base" hangingPunct="0">
              <a:lnSpc>
                <a:spcPct val="125000"/>
              </a:lnSpc>
              <a:spcBef>
                <a:spcPct val="0"/>
              </a:spcBef>
              <a:spcAft>
                <a:spcPct val="0"/>
              </a:spcAft>
              <a:buClrTx/>
              <a:buFont typeface="Wingdings" panose="05000000000000000000" pitchFamily="2" charset="2"/>
              <a:buChar char="v"/>
            </a:pPr>
            <a:r>
              <a:rPr lang="en-US" sz="1600" b="1" dirty="0">
                <a:solidFill>
                  <a:schemeClr val="bg1">
                    <a:lumMod val="95000"/>
                  </a:schemeClr>
                </a:solidFill>
                <a:latin typeface="Times New Roman" panose="02020603050405020304" pitchFamily="18" charset="0"/>
                <a:cs typeface="Times New Roman" panose="02020603050405020304" pitchFamily="18" charset="0"/>
              </a:rPr>
              <a:t>Maintainability</a:t>
            </a:r>
            <a:r>
              <a:rPr lang="en-US" sz="1600" dirty="0">
                <a:solidFill>
                  <a:schemeClr val="bg1">
                    <a:lumMod val="95000"/>
                  </a:schemeClr>
                </a:solidFill>
                <a:latin typeface="Times New Roman" panose="02020603050405020304" pitchFamily="18" charset="0"/>
                <a:cs typeface="Times New Roman" panose="02020603050405020304" pitchFamily="18" charset="0"/>
              </a:rPr>
              <a:t> – Allow easy updates and model improvements</a:t>
            </a:r>
            <a:r>
              <a:rPr lang="en-US" sz="1600" dirty="0"/>
              <a:t>.</a:t>
            </a:r>
            <a:endParaRPr lang="en-US" altLang="en-US" sz="12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935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9446604"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SPECIFICATIONS</a:t>
            </a:r>
            <a:endParaRPr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Google Shape;165;p19" descr="image.png">
            <a:extLst>
              <a:ext uri="{FF2B5EF4-FFF2-40B4-BE49-F238E27FC236}">
                <a16:creationId xmlns:a16="http://schemas.microsoft.com/office/drawing/2014/main" id="{8B663CCA-FD6B-4818-41A8-B19F780BF17A}"/>
              </a:ext>
            </a:extLst>
          </p:cNvPr>
          <p:cNvPicPr preferRelativeResize="0"/>
          <p:nvPr/>
        </p:nvPicPr>
        <p:blipFill rotWithShape="1">
          <a:blip r:embed="rId4">
            <a:alphaModFix/>
          </a:blip>
          <a:srcRect/>
          <a:stretch/>
        </p:blipFill>
        <p:spPr>
          <a:xfrm>
            <a:off x="6449962" y="1571231"/>
            <a:ext cx="5185902" cy="4695212"/>
          </a:xfrm>
          <a:prstGeom prst="rect">
            <a:avLst/>
          </a:prstGeom>
          <a:noFill/>
          <a:ln>
            <a:noFill/>
          </a:ln>
        </p:spPr>
      </p:pic>
      <p:pic>
        <p:nvPicPr>
          <p:cNvPr id="4" name="Google Shape;165;p19" descr="image.png">
            <a:extLst>
              <a:ext uri="{FF2B5EF4-FFF2-40B4-BE49-F238E27FC236}">
                <a16:creationId xmlns:a16="http://schemas.microsoft.com/office/drawing/2014/main" id="{CB3132F8-5696-3B1D-ED72-B90C03E9EB8C}"/>
              </a:ext>
            </a:extLst>
          </p:cNvPr>
          <p:cNvPicPr preferRelativeResize="0"/>
          <p:nvPr/>
        </p:nvPicPr>
        <p:blipFill rotWithShape="1">
          <a:blip r:embed="rId4">
            <a:alphaModFix/>
          </a:blip>
          <a:srcRect/>
          <a:stretch/>
        </p:blipFill>
        <p:spPr>
          <a:xfrm>
            <a:off x="556138" y="1571231"/>
            <a:ext cx="5185902" cy="4695212"/>
          </a:xfrm>
          <a:prstGeom prst="rect">
            <a:avLst/>
          </a:prstGeom>
          <a:noFill/>
          <a:ln>
            <a:noFill/>
          </a:ln>
        </p:spPr>
      </p:pic>
      <p:sp>
        <p:nvSpPr>
          <p:cNvPr id="5" name="Google Shape;168;p19">
            <a:extLst>
              <a:ext uri="{FF2B5EF4-FFF2-40B4-BE49-F238E27FC236}">
                <a16:creationId xmlns:a16="http://schemas.microsoft.com/office/drawing/2014/main" id="{120F2FD2-4FDE-70EB-BEC5-668AEA42C514}"/>
              </a:ext>
            </a:extLst>
          </p:cNvPr>
          <p:cNvSpPr txBox="1"/>
          <p:nvPr/>
        </p:nvSpPr>
        <p:spPr>
          <a:xfrm>
            <a:off x="1140542" y="2035306"/>
            <a:ext cx="3991897"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F1F5F9"/>
                </a:solidFill>
                <a:latin typeface="Poppins"/>
                <a:ea typeface="Poppins"/>
                <a:cs typeface="Poppins"/>
                <a:sym typeface="Poppins"/>
              </a:rPr>
              <a:t>SOFTWARE</a:t>
            </a:r>
            <a:endParaRPr dirty="0"/>
          </a:p>
        </p:txBody>
      </p:sp>
      <p:sp>
        <p:nvSpPr>
          <p:cNvPr id="7" name="Google Shape;168;p19">
            <a:extLst>
              <a:ext uri="{FF2B5EF4-FFF2-40B4-BE49-F238E27FC236}">
                <a16:creationId xmlns:a16="http://schemas.microsoft.com/office/drawing/2014/main" id="{E63E7B03-DB35-41C7-7C12-FBC5F4E6C1D0}"/>
              </a:ext>
            </a:extLst>
          </p:cNvPr>
          <p:cNvSpPr txBox="1"/>
          <p:nvPr/>
        </p:nvSpPr>
        <p:spPr>
          <a:xfrm>
            <a:off x="6670879" y="2035306"/>
            <a:ext cx="4744065"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dirty="0">
                <a:solidFill>
                  <a:srgbClr val="F1F5F9"/>
                </a:solidFill>
                <a:latin typeface="Poppins"/>
                <a:ea typeface="Poppins"/>
                <a:cs typeface="Poppins"/>
                <a:sym typeface="Poppins"/>
              </a:rPr>
              <a:t>HARDWARE</a:t>
            </a:r>
            <a:endParaRPr dirty="0"/>
          </a:p>
        </p:txBody>
      </p:sp>
      <p:sp>
        <p:nvSpPr>
          <p:cNvPr id="12" name="Rectangle 4">
            <a:extLst>
              <a:ext uri="{FF2B5EF4-FFF2-40B4-BE49-F238E27FC236}">
                <a16:creationId xmlns:a16="http://schemas.microsoft.com/office/drawing/2014/main" id="{ACEB02DE-576D-8B92-E6F7-8EE0FB00D576}"/>
              </a:ext>
            </a:extLst>
          </p:cNvPr>
          <p:cNvSpPr>
            <a:spLocks noChangeArrowheads="1"/>
          </p:cNvSpPr>
          <p:nvPr/>
        </p:nvSpPr>
        <p:spPr bwMode="auto">
          <a:xfrm>
            <a:off x="6633876" y="2815307"/>
            <a:ext cx="5001986" cy="247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200000"/>
              </a:lnSpc>
              <a:spcBef>
                <a:spcPct val="0"/>
              </a:spcBef>
              <a:spcAft>
                <a:spcPct val="0"/>
              </a:spcAft>
              <a:buClrTx/>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Processor      :  </a:t>
            </a:r>
            <a:r>
              <a:rPr lang="en-US" sz="1600" dirty="0">
                <a:solidFill>
                  <a:schemeClr val="bg1">
                    <a:lumMod val="95000"/>
                  </a:schemeClr>
                </a:solidFill>
                <a:latin typeface="Times New Roman" panose="02020603050405020304" pitchFamily="18" charset="0"/>
                <a:cs typeface="Times New Roman" panose="02020603050405020304" pitchFamily="18" charset="0"/>
              </a:rPr>
              <a:t>Intel Core i5 or AMD Ryzen 5 (or higher)</a:t>
            </a:r>
            <a:endParaRPr lang="en-US" altLang="en-US" sz="1600" dirty="0">
              <a:solidFill>
                <a:schemeClr val="bg1">
                  <a:lumMod val="95000"/>
                </a:schemeClr>
              </a:solidFill>
              <a:latin typeface="Times New Roman" panose="02020603050405020304" pitchFamily="18" charset="0"/>
              <a:cs typeface="Times New Roman" panose="02020603050405020304" pitchFamily="18" charset="0"/>
            </a:endParaRPr>
          </a:p>
          <a:p>
            <a:pPr>
              <a:lnSpc>
                <a:spcPct val="200000"/>
              </a:lnSpc>
            </a:pPr>
            <a:r>
              <a:rPr lang="en-IN" sz="1600" dirty="0">
                <a:solidFill>
                  <a:schemeClr val="bg1">
                    <a:lumMod val="95000"/>
                  </a:schemeClr>
                </a:solidFill>
                <a:latin typeface="Times New Roman" panose="02020603050405020304" pitchFamily="18" charset="0"/>
                <a:cs typeface="Times New Roman" panose="02020603050405020304" pitchFamily="18" charset="0"/>
              </a:rPr>
              <a:t>RAM              :  </a:t>
            </a:r>
            <a:r>
              <a:rPr lang="en-US" sz="1600" dirty="0">
                <a:solidFill>
                  <a:schemeClr val="bg1">
                    <a:lumMod val="95000"/>
                  </a:schemeClr>
                </a:solidFill>
                <a:latin typeface="Times New Roman" panose="02020603050405020304" pitchFamily="18" charset="0"/>
                <a:cs typeface="Times New Roman" panose="02020603050405020304" pitchFamily="18" charset="0"/>
              </a:rPr>
              <a:t>8 GB minimum </a:t>
            </a:r>
          </a:p>
          <a:p>
            <a:pPr>
              <a:lnSpc>
                <a:spcPct val="200000"/>
              </a:lnSpc>
            </a:pPr>
            <a:r>
              <a:rPr lang="en-IN" sz="1600" dirty="0">
                <a:solidFill>
                  <a:schemeClr val="bg1">
                    <a:lumMod val="95000"/>
                  </a:schemeClr>
                </a:solidFill>
                <a:latin typeface="Times New Roman" panose="02020603050405020304" pitchFamily="18" charset="0"/>
                <a:cs typeface="Times New Roman" panose="02020603050405020304" pitchFamily="18" charset="0"/>
              </a:rPr>
              <a:t>Storage           :  </a:t>
            </a:r>
            <a:r>
              <a:rPr lang="en-US" sz="1600" dirty="0">
                <a:solidFill>
                  <a:schemeClr val="bg1">
                    <a:lumMod val="95000"/>
                  </a:schemeClr>
                </a:solidFill>
                <a:latin typeface="Times New Roman" panose="02020603050405020304" pitchFamily="18" charset="0"/>
                <a:cs typeface="Times New Roman" panose="02020603050405020304" pitchFamily="18" charset="0"/>
              </a:rPr>
              <a:t>256 GB SSD or higher</a:t>
            </a:r>
            <a:endParaRPr lang="en-IN" sz="1600" dirty="0">
              <a:solidFill>
                <a:schemeClr val="bg1">
                  <a:lumMod val="95000"/>
                </a:schemeClr>
              </a:solidFill>
              <a:latin typeface="Times New Roman" panose="02020603050405020304" pitchFamily="18" charset="0"/>
              <a:cs typeface="Times New Roman" panose="02020603050405020304" pitchFamily="18" charset="0"/>
            </a:endParaRPr>
          </a:p>
          <a:p>
            <a:pPr>
              <a:lnSpc>
                <a:spcPct val="200000"/>
              </a:lnSpc>
            </a:pPr>
            <a:r>
              <a:rPr lang="en-IN" sz="1600" dirty="0">
                <a:solidFill>
                  <a:schemeClr val="bg1">
                    <a:lumMod val="95000"/>
                  </a:schemeClr>
                </a:solidFill>
                <a:latin typeface="Times New Roman" panose="02020603050405020304" pitchFamily="18" charset="0"/>
                <a:cs typeface="Times New Roman" panose="02020603050405020304" pitchFamily="18" charset="0"/>
              </a:rPr>
              <a:t>Graphics         :  </a:t>
            </a:r>
            <a:r>
              <a:rPr lang="en-US" sz="1600" dirty="0">
                <a:solidFill>
                  <a:schemeClr val="bg1">
                    <a:lumMod val="95000"/>
                  </a:schemeClr>
                </a:solidFill>
                <a:latin typeface="Times New Roman" panose="02020603050405020304" pitchFamily="18" charset="0"/>
                <a:cs typeface="Times New Roman" panose="02020603050405020304" pitchFamily="18" charset="0"/>
              </a:rPr>
              <a:t>NVIDIA GPU (GTX 1650 or above) </a:t>
            </a:r>
            <a:endParaRPr lang="en-IN" sz="1600" dirty="0">
              <a:solidFill>
                <a:schemeClr val="bg1">
                  <a:lumMod val="95000"/>
                </a:schemeClr>
              </a:solidFill>
              <a:latin typeface="Times New Roman" panose="02020603050405020304" pitchFamily="18" charset="0"/>
              <a:cs typeface="Times New Roman" panose="02020603050405020304" pitchFamily="18" charset="0"/>
            </a:endParaRPr>
          </a:p>
          <a:p>
            <a:pPr>
              <a:lnSpc>
                <a:spcPct val="200000"/>
              </a:lnSpc>
            </a:pPr>
            <a:endParaRPr lang="en-IN" sz="1600" dirty="0">
              <a:solidFill>
                <a:schemeClr val="bg1">
                  <a:lumMod val="95000"/>
                </a:schemeClr>
              </a:solidFill>
              <a:latin typeface="Times New Roman" panose="02020603050405020304" pitchFamily="18" charset="0"/>
              <a:cs typeface="Times New Roman" panose="02020603050405020304" pitchFamily="18" charset="0"/>
            </a:endParaRPr>
          </a:p>
        </p:txBody>
      </p:sp>
      <p:sp>
        <p:nvSpPr>
          <p:cNvPr id="18" name="Rectangle 4">
            <a:extLst>
              <a:ext uri="{FF2B5EF4-FFF2-40B4-BE49-F238E27FC236}">
                <a16:creationId xmlns:a16="http://schemas.microsoft.com/office/drawing/2014/main" id="{F22E9E77-5094-DBD4-4FAB-2E47222AAB15}"/>
              </a:ext>
            </a:extLst>
          </p:cNvPr>
          <p:cNvSpPr>
            <a:spLocks noChangeArrowheads="1"/>
          </p:cNvSpPr>
          <p:nvPr/>
        </p:nvSpPr>
        <p:spPr bwMode="auto">
          <a:xfrm>
            <a:off x="723988" y="2580252"/>
            <a:ext cx="5001986" cy="3464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200000"/>
              </a:lnSpc>
              <a:spcBef>
                <a:spcPct val="0"/>
              </a:spcBef>
              <a:spcAft>
                <a:spcPct val="0"/>
              </a:spcAft>
              <a:buClrTx/>
            </a:pPr>
            <a:r>
              <a:rPr lang="en-US" altLang="en-US" sz="1600" dirty="0">
                <a:solidFill>
                  <a:schemeClr val="bg1">
                    <a:lumMod val="95000"/>
                  </a:schemeClr>
                </a:solidFill>
                <a:latin typeface="Times New Roman" panose="02020603050405020304" pitchFamily="18" charset="0"/>
                <a:cs typeface="Times New Roman" panose="02020603050405020304" pitchFamily="18" charset="0"/>
              </a:rPr>
              <a:t>Programming Language              :  Python 3.10+</a:t>
            </a:r>
          </a:p>
          <a:p>
            <a:pPr eaLnBrk="0" fontAlgn="base" hangingPunct="0">
              <a:lnSpc>
                <a:spcPct val="200000"/>
              </a:lnSpc>
              <a:spcBef>
                <a:spcPct val="0"/>
              </a:spcBef>
              <a:spcAft>
                <a:spcPct val="0"/>
              </a:spcAft>
              <a:buClrTx/>
            </a:pPr>
            <a:r>
              <a:rPr lang="en-US" sz="1600" dirty="0">
                <a:solidFill>
                  <a:schemeClr val="bg1">
                    <a:lumMod val="95000"/>
                  </a:schemeClr>
                </a:solidFill>
                <a:latin typeface="Times New Roman" panose="02020603050405020304" pitchFamily="18" charset="0"/>
                <a:cs typeface="Times New Roman" panose="02020603050405020304" pitchFamily="18" charset="0"/>
              </a:rPr>
              <a:t>Deep Learning Framework</a:t>
            </a:r>
            <a:r>
              <a:rPr lang="en-IN" sz="1600" dirty="0">
                <a:solidFill>
                  <a:schemeClr val="bg1">
                    <a:lumMod val="95000"/>
                  </a:schemeClr>
                </a:solidFill>
                <a:latin typeface="Times New Roman" panose="02020603050405020304" pitchFamily="18" charset="0"/>
                <a:cs typeface="Times New Roman" panose="02020603050405020304" pitchFamily="18" charset="0"/>
              </a:rPr>
              <a:t>          :  </a:t>
            </a:r>
            <a:r>
              <a:rPr lang="en-US" sz="1600" dirty="0">
                <a:solidFill>
                  <a:schemeClr val="bg1">
                    <a:lumMod val="95000"/>
                  </a:schemeClr>
                </a:solidFill>
                <a:latin typeface="Times New Roman" panose="02020603050405020304" pitchFamily="18" charset="0"/>
                <a:cs typeface="Times New Roman" panose="02020603050405020304" pitchFamily="18" charset="0"/>
              </a:rPr>
              <a:t>TensorFlow &amp; </a:t>
            </a:r>
            <a:r>
              <a:rPr lang="en-US" sz="1600" dirty="0" err="1">
                <a:solidFill>
                  <a:schemeClr val="bg1">
                    <a:lumMod val="95000"/>
                  </a:schemeClr>
                </a:solidFill>
                <a:latin typeface="Times New Roman" panose="02020603050405020304" pitchFamily="18" charset="0"/>
                <a:cs typeface="Times New Roman" panose="02020603050405020304" pitchFamily="18" charset="0"/>
              </a:rPr>
              <a:t>Keras</a:t>
            </a:r>
            <a:r>
              <a:rPr lang="en-US" sz="1600" dirty="0">
                <a:solidFill>
                  <a:schemeClr val="bg1">
                    <a:lumMod val="95000"/>
                  </a:schemeClr>
                </a:solidFill>
                <a:latin typeface="Times New Roman" panose="02020603050405020304" pitchFamily="18" charset="0"/>
                <a:cs typeface="Times New Roman" panose="02020603050405020304" pitchFamily="18" charset="0"/>
              </a:rPr>
              <a:t> </a:t>
            </a:r>
          </a:p>
          <a:p>
            <a:pPr>
              <a:lnSpc>
                <a:spcPct val="200000"/>
              </a:lnSpc>
            </a:pPr>
            <a:r>
              <a:rPr lang="en-IN" sz="1600" dirty="0">
                <a:solidFill>
                  <a:schemeClr val="bg1">
                    <a:lumMod val="95000"/>
                  </a:schemeClr>
                </a:solidFill>
                <a:latin typeface="Times New Roman" panose="02020603050405020304" pitchFamily="18" charset="0"/>
                <a:cs typeface="Times New Roman" panose="02020603050405020304" pitchFamily="18" charset="0"/>
              </a:rPr>
              <a:t>Image Processing                         :  </a:t>
            </a:r>
            <a:r>
              <a:rPr lang="en-US" sz="1600" dirty="0">
                <a:solidFill>
                  <a:schemeClr val="bg1">
                    <a:lumMod val="95000"/>
                  </a:schemeClr>
                </a:solidFill>
                <a:latin typeface="Times New Roman" panose="02020603050405020304" pitchFamily="18" charset="0"/>
                <a:cs typeface="Times New Roman" panose="02020603050405020304" pitchFamily="18" charset="0"/>
              </a:rPr>
              <a:t>OpenCV</a:t>
            </a:r>
            <a:endParaRPr lang="en-IN" sz="1600" dirty="0">
              <a:solidFill>
                <a:schemeClr val="bg1">
                  <a:lumMod val="95000"/>
                </a:schemeClr>
              </a:solidFill>
              <a:latin typeface="Times New Roman" panose="02020603050405020304" pitchFamily="18" charset="0"/>
              <a:cs typeface="Times New Roman" panose="02020603050405020304" pitchFamily="18" charset="0"/>
            </a:endParaRPr>
          </a:p>
          <a:p>
            <a:pPr>
              <a:lnSpc>
                <a:spcPct val="200000"/>
              </a:lnSpc>
            </a:pPr>
            <a:r>
              <a:rPr lang="en-IN" sz="1600" dirty="0">
                <a:solidFill>
                  <a:schemeClr val="bg1">
                    <a:lumMod val="95000"/>
                  </a:schemeClr>
                </a:solidFill>
                <a:latin typeface="Times New Roman" panose="02020603050405020304" pitchFamily="18" charset="0"/>
                <a:cs typeface="Times New Roman" panose="02020603050405020304" pitchFamily="18" charset="0"/>
              </a:rPr>
              <a:t>Explainable AI                             :  </a:t>
            </a:r>
            <a:r>
              <a:rPr lang="en-US" sz="1600" dirty="0">
                <a:solidFill>
                  <a:schemeClr val="bg1">
                    <a:lumMod val="95000"/>
                  </a:schemeClr>
                </a:solidFill>
                <a:latin typeface="Times New Roman" panose="02020603050405020304" pitchFamily="18" charset="0"/>
                <a:cs typeface="Times New Roman" panose="02020603050405020304" pitchFamily="18" charset="0"/>
              </a:rPr>
              <a:t>Grad-CAM</a:t>
            </a:r>
          </a:p>
          <a:p>
            <a:pPr>
              <a:lnSpc>
                <a:spcPct val="200000"/>
              </a:lnSpc>
            </a:pPr>
            <a:r>
              <a:rPr lang="en-US" sz="1600" dirty="0">
                <a:solidFill>
                  <a:schemeClr val="bg1">
                    <a:lumMod val="95000"/>
                  </a:schemeClr>
                </a:solidFill>
                <a:latin typeface="Times New Roman" panose="02020603050405020304" pitchFamily="18" charset="0"/>
                <a:cs typeface="Times New Roman" panose="02020603050405020304" pitchFamily="18" charset="0"/>
              </a:rPr>
              <a:t>Web Framework                          :  Flask</a:t>
            </a:r>
          </a:p>
          <a:p>
            <a:pPr>
              <a:lnSpc>
                <a:spcPct val="200000"/>
              </a:lnSpc>
            </a:pPr>
            <a:r>
              <a:rPr lang="en-US" sz="1600" dirty="0">
                <a:solidFill>
                  <a:schemeClr val="bg1">
                    <a:lumMod val="95000"/>
                  </a:schemeClr>
                </a:solidFill>
                <a:latin typeface="Times New Roman" panose="02020603050405020304" pitchFamily="18" charset="0"/>
                <a:cs typeface="Times New Roman" panose="02020603050405020304" pitchFamily="18" charset="0"/>
              </a:rPr>
              <a:t>Frontend                                       : </a:t>
            </a:r>
            <a:r>
              <a:rPr lang="en-US" sz="1600" dirty="0" err="1">
                <a:solidFill>
                  <a:schemeClr val="bg1">
                    <a:lumMod val="95000"/>
                  </a:schemeClr>
                </a:solidFill>
                <a:latin typeface="Times New Roman" panose="02020603050405020304" pitchFamily="18" charset="0"/>
                <a:cs typeface="Times New Roman" panose="02020603050405020304" pitchFamily="18" charset="0"/>
              </a:rPr>
              <a:t>HTML,CSS,JavaScipt</a:t>
            </a:r>
            <a:endParaRPr lang="en-IN" sz="1600" dirty="0">
              <a:solidFill>
                <a:schemeClr val="bg1">
                  <a:lumMod val="95000"/>
                </a:schemeClr>
              </a:solidFill>
              <a:latin typeface="Times New Roman" panose="02020603050405020304" pitchFamily="18" charset="0"/>
              <a:cs typeface="Times New Roman" panose="02020603050405020304" pitchFamily="18" charset="0"/>
            </a:endParaRPr>
          </a:p>
          <a:p>
            <a:pPr>
              <a:lnSpc>
                <a:spcPct val="200000"/>
              </a:lnSpc>
            </a:pPr>
            <a:endParaRPr lang="en-IN" sz="1600" dirty="0">
              <a:solidFill>
                <a:schemeClr val="bg1">
                  <a:lumMod val="9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024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9446604"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FUTURE SCOPE</a:t>
            </a:r>
            <a:endParaRPr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 name="Group 1">
            <a:extLst>
              <a:ext uri="{FF2B5EF4-FFF2-40B4-BE49-F238E27FC236}">
                <a16:creationId xmlns:a16="http://schemas.microsoft.com/office/drawing/2014/main" id="{41C918A6-0EC1-E038-94F0-4124531F29A0}"/>
              </a:ext>
            </a:extLst>
          </p:cNvPr>
          <p:cNvGrpSpPr/>
          <p:nvPr/>
        </p:nvGrpSpPr>
        <p:grpSpPr>
          <a:xfrm>
            <a:off x="626744" y="1789557"/>
            <a:ext cx="11172644" cy="3389749"/>
            <a:chOff x="497388" y="2215512"/>
            <a:chExt cx="11172644" cy="3389749"/>
          </a:xfrm>
        </p:grpSpPr>
        <p:grpSp>
          <p:nvGrpSpPr>
            <p:cNvPr id="3" name="Group 2">
              <a:extLst>
                <a:ext uri="{FF2B5EF4-FFF2-40B4-BE49-F238E27FC236}">
                  <a16:creationId xmlns:a16="http://schemas.microsoft.com/office/drawing/2014/main" id="{EB2E692B-2B0A-4269-2CED-33780AFFA088}"/>
                </a:ext>
              </a:extLst>
            </p:cNvPr>
            <p:cNvGrpSpPr/>
            <p:nvPr/>
          </p:nvGrpSpPr>
          <p:grpSpPr>
            <a:xfrm>
              <a:off x="504592" y="2215512"/>
              <a:ext cx="10814532" cy="786754"/>
              <a:chOff x="504592" y="2215512"/>
              <a:chExt cx="10814532" cy="786754"/>
            </a:xfrm>
          </p:grpSpPr>
          <p:sp>
            <p:nvSpPr>
              <p:cNvPr id="13" name="TextBox 12">
                <a:extLst>
                  <a:ext uri="{FF2B5EF4-FFF2-40B4-BE49-F238E27FC236}">
                    <a16:creationId xmlns:a16="http://schemas.microsoft.com/office/drawing/2014/main" id="{233E32A2-074A-5012-FDB0-E011D3CEB25A}"/>
                  </a:ext>
                </a:extLst>
              </p:cNvPr>
              <p:cNvSpPr txBox="1"/>
              <p:nvPr/>
            </p:nvSpPr>
            <p:spPr>
              <a:xfrm>
                <a:off x="769112" y="2215512"/>
                <a:ext cx="10550012" cy="786754"/>
              </a:xfrm>
              <a:prstGeom prst="rect">
                <a:avLst/>
              </a:prstGeom>
              <a:noFill/>
            </p:spPr>
            <p:txBody>
              <a:bodyPr wrap="square" rtlCol="0">
                <a:spAutoFit/>
              </a:bodyPr>
              <a:lstStyle/>
              <a:p>
                <a:pPr>
                  <a:lnSpc>
                    <a:spcPct val="150000"/>
                  </a:lnSpc>
                </a:pPr>
                <a:r>
                  <a:rPr lang="en-US" sz="1600" b="1" dirty="0">
                    <a:solidFill>
                      <a:schemeClr val="bg1">
                        <a:lumMod val="95000"/>
                      </a:schemeClr>
                    </a:solidFill>
                    <a:latin typeface="Times New Roman" panose="02020603050405020304" pitchFamily="18" charset="0"/>
                    <a:cs typeface="Times New Roman" panose="02020603050405020304" pitchFamily="18" charset="0"/>
                  </a:rPr>
                  <a:t>Cross-population validation:</a:t>
                </a:r>
                <a:r>
                  <a:rPr lang="en-US" sz="1600" dirty="0">
                    <a:solidFill>
                      <a:schemeClr val="bg1">
                        <a:lumMod val="95000"/>
                      </a:schemeClr>
                    </a:solidFill>
                    <a:latin typeface="Times New Roman" panose="02020603050405020304" pitchFamily="18" charset="0"/>
                    <a:cs typeface="Times New Roman" panose="02020603050405020304" pitchFamily="18" charset="0"/>
                  </a:rPr>
                  <a:t> Testing and fine-tuning the model on diverse population datasets (e.g., </a:t>
                </a:r>
                <a:r>
                  <a:rPr lang="en-US" sz="1600" dirty="0" err="1">
                    <a:solidFill>
                      <a:schemeClr val="bg1">
                        <a:lumMod val="95000"/>
                      </a:schemeClr>
                    </a:solidFill>
                    <a:latin typeface="Times New Roman" panose="02020603050405020304" pitchFamily="18" charset="0"/>
                    <a:cs typeface="Times New Roman" panose="02020603050405020304" pitchFamily="18" charset="0"/>
                  </a:rPr>
                  <a:t>IDRiD</a:t>
                </a:r>
                <a:r>
                  <a:rPr lang="en-US" sz="1600" dirty="0">
                    <a:solidFill>
                      <a:schemeClr val="bg1">
                        <a:lumMod val="95000"/>
                      </a:schemeClr>
                    </a:solidFill>
                    <a:latin typeface="Times New Roman" panose="02020603050405020304" pitchFamily="18" charset="0"/>
                    <a:cs typeface="Times New Roman" panose="02020603050405020304" pitchFamily="18" charset="0"/>
                  </a:rPr>
                  <a:t> for Indian patients) to improve generalization across different demographics and camera equipment.</a:t>
                </a:r>
                <a:endParaRPr lang="en-IN" sz="1200"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14" name="Google Shape;157;p18" descr="image.png">
                <a:extLst>
                  <a:ext uri="{FF2B5EF4-FFF2-40B4-BE49-F238E27FC236}">
                    <a16:creationId xmlns:a16="http://schemas.microsoft.com/office/drawing/2014/main" id="{39B8110F-1AD6-2B2F-12B6-B18770CD3C25}"/>
                  </a:ext>
                </a:extLst>
              </p:cNvPr>
              <p:cNvPicPr preferRelativeResize="0"/>
              <p:nvPr/>
            </p:nvPicPr>
            <p:blipFill rotWithShape="1">
              <a:blip r:embed="rId4">
                <a:alphaModFix/>
              </a:blip>
              <a:srcRect/>
              <a:stretch/>
            </p:blipFill>
            <p:spPr>
              <a:xfrm>
                <a:off x="504592" y="2397427"/>
                <a:ext cx="209550" cy="219075"/>
              </a:xfrm>
              <a:prstGeom prst="rect">
                <a:avLst/>
              </a:prstGeom>
              <a:noFill/>
              <a:ln>
                <a:noFill/>
              </a:ln>
            </p:spPr>
          </p:pic>
        </p:grpSp>
        <p:grpSp>
          <p:nvGrpSpPr>
            <p:cNvPr id="4" name="Group 3">
              <a:extLst>
                <a:ext uri="{FF2B5EF4-FFF2-40B4-BE49-F238E27FC236}">
                  <a16:creationId xmlns:a16="http://schemas.microsoft.com/office/drawing/2014/main" id="{63A87435-7EF2-C93E-CC45-BC213427F29B}"/>
                </a:ext>
              </a:extLst>
            </p:cNvPr>
            <p:cNvGrpSpPr/>
            <p:nvPr/>
          </p:nvGrpSpPr>
          <p:grpSpPr>
            <a:xfrm>
              <a:off x="528326" y="4818764"/>
              <a:ext cx="10542452" cy="786497"/>
              <a:chOff x="521034" y="2916579"/>
              <a:chExt cx="10542452" cy="786497"/>
            </a:xfrm>
          </p:grpSpPr>
          <p:sp>
            <p:nvSpPr>
              <p:cNvPr id="11" name="TextBox 10">
                <a:extLst>
                  <a:ext uri="{FF2B5EF4-FFF2-40B4-BE49-F238E27FC236}">
                    <a16:creationId xmlns:a16="http://schemas.microsoft.com/office/drawing/2014/main" id="{540DE1C6-893C-5F5A-B3EC-FC84E86B58B4}"/>
                  </a:ext>
                </a:extLst>
              </p:cNvPr>
              <p:cNvSpPr txBox="1"/>
              <p:nvPr/>
            </p:nvSpPr>
            <p:spPr>
              <a:xfrm>
                <a:off x="769112" y="2916579"/>
                <a:ext cx="10294374" cy="786497"/>
              </a:xfrm>
              <a:prstGeom prst="rect">
                <a:avLst/>
              </a:prstGeom>
              <a:noFill/>
            </p:spPr>
            <p:txBody>
              <a:bodyPr wrap="square" rtlCol="0">
                <a:spAutoFit/>
              </a:bodyPr>
              <a:lstStyle/>
              <a:p>
                <a:pPr>
                  <a:lnSpc>
                    <a:spcPct val="150000"/>
                  </a:lnSpc>
                </a:pPr>
                <a:r>
                  <a:rPr lang="en-US" sz="1600" b="1" dirty="0">
                    <a:solidFill>
                      <a:schemeClr val="bg1">
                        <a:lumMod val="95000"/>
                      </a:schemeClr>
                    </a:solidFill>
                    <a:latin typeface="Times New Roman" panose="02020603050405020304" pitchFamily="18" charset="0"/>
                    <a:cs typeface="Times New Roman" panose="02020603050405020304" pitchFamily="18" charset="0"/>
                  </a:rPr>
                  <a:t>Continuous learning:</a:t>
                </a:r>
                <a:r>
                  <a:rPr lang="en-US" sz="1600" dirty="0">
                    <a:solidFill>
                      <a:schemeClr val="bg1">
                        <a:lumMod val="95000"/>
                      </a:schemeClr>
                    </a:solidFill>
                    <a:latin typeface="Times New Roman" panose="02020603050405020304" pitchFamily="18" charset="0"/>
                    <a:cs typeface="Times New Roman" panose="02020603050405020304" pitchFamily="18" charset="0"/>
                  </a:rPr>
                  <a:t> Periodically retraining the model as new labeled data becomes available, to keep improving accuracy over time.</a:t>
                </a:r>
                <a:endParaRPr lang="en-IN" sz="1200"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12" name="Google Shape;157;p18" descr="image.png">
                <a:extLst>
                  <a:ext uri="{FF2B5EF4-FFF2-40B4-BE49-F238E27FC236}">
                    <a16:creationId xmlns:a16="http://schemas.microsoft.com/office/drawing/2014/main" id="{59D437B5-41EE-83DB-AD15-24C8AF74F574}"/>
                  </a:ext>
                </a:extLst>
              </p:cNvPr>
              <p:cNvPicPr preferRelativeResize="0"/>
              <p:nvPr/>
            </p:nvPicPr>
            <p:blipFill rotWithShape="1">
              <a:blip r:embed="rId4">
                <a:alphaModFix/>
              </a:blip>
              <a:srcRect/>
              <a:stretch/>
            </p:blipFill>
            <p:spPr>
              <a:xfrm>
                <a:off x="521034" y="3075144"/>
                <a:ext cx="209550" cy="219075"/>
              </a:xfrm>
              <a:prstGeom prst="rect">
                <a:avLst/>
              </a:prstGeom>
              <a:noFill/>
              <a:ln>
                <a:noFill/>
              </a:ln>
            </p:spPr>
          </p:pic>
        </p:grpSp>
        <p:grpSp>
          <p:nvGrpSpPr>
            <p:cNvPr id="5" name="Group 4">
              <a:extLst>
                <a:ext uri="{FF2B5EF4-FFF2-40B4-BE49-F238E27FC236}">
                  <a16:creationId xmlns:a16="http://schemas.microsoft.com/office/drawing/2014/main" id="{E4663381-A76B-D6FF-A5CE-98895DD27EF4}"/>
                </a:ext>
              </a:extLst>
            </p:cNvPr>
            <p:cNvGrpSpPr/>
            <p:nvPr/>
          </p:nvGrpSpPr>
          <p:grpSpPr>
            <a:xfrm>
              <a:off x="497388" y="3063946"/>
              <a:ext cx="11172644" cy="786497"/>
              <a:chOff x="511322" y="3748586"/>
              <a:chExt cx="11903176" cy="786497"/>
            </a:xfrm>
          </p:grpSpPr>
          <p:sp>
            <p:nvSpPr>
              <p:cNvPr id="9" name="TextBox 8">
                <a:extLst>
                  <a:ext uri="{FF2B5EF4-FFF2-40B4-BE49-F238E27FC236}">
                    <a16:creationId xmlns:a16="http://schemas.microsoft.com/office/drawing/2014/main" id="{206F0499-083D-FC7C-E83C-B2CC24D9805D}"/>
                  </a:ext>
                </a:extLst>
              </p:cNvPr>
              <p:cNvSpPr txBox="1"/>
              <p:nvPr/>
            </p:nvSpPr>
            <p:spPr>
              <a:xfrm>
                <a:off x="763272" y="3748586"/>
                <a:ext cx="11651226" cy="786497"/>
              </a:xfrm>
              <a:prstGeom prst="rect">
                <a:avLst/>
              </a:prstGeom>
              <a:noFill/>
            </p:spPr>
            <p:txBody>
              <a:bodyPr wrap="square" rtlCol="0">
                <a:spAutoFit/>
              </a:bodyPr>
              <a:lstStyle/>
              <a:p>
                <a:pPr>
                  <a:lnSpc>
                    <a:spcPct val="150000"/>
                  </a:lnSpc>
                </a:pPr>
                <a:r>
                  <a:rPr lang="en-US" sz="1600" b="1" dirty="0">
                    <a:solidFill>
                      <a:schemeClr val="bg1">
                        <a:lumMod val="95000"/>
                      </a:schemeClr>
                    </a:solidFill>
                    <a:latin typeface="Times New Roman" panose="02020603050405020304" pitchFamily="18" charset="0"/>
                    <a:cs typeface="Times New Roman" panose="02020603050405020304" pitchFamily="18" charset="0"/>
                  </a:rPr>
                  <a:t>Integration with hospital EHR systems:</a:t>
                </a:r>
                <a:r>
                  <a:rPr lang="en-US" sz="1600" dirty="0">
                    <a:solidFill>
                      <a:schemeClr val="bg1">
                        <a:lumMod val="95000"/>
                      </a:schemeClr>
                    </a:solidFill>
                    <a:latin typeface="Times New Roman" panose="02020603050405020304" pitchFamily="18" charset="0"/>
                    <a:cs typeface="Times New Roman" panose="02020603050405020304" pitchFamily="18" charset="0"/>
                  </a:rPr>
                  <a:t> Connecting Retina-Scan's output directly into a patient's electronic health record for streamlined referral and follow-up tracking.</a:t>
                </a:r>
                <a:endParaRPr lang="en-IN" sz="1200" dirty="0">
                  <a:solidFill>
                    <a:schemeClr val="bg1">
                      <a:lumMod val="95000"/>
                    </a:schemeClr>
                  </a:solidFill>
                  <a:latin typeface="Times New Roman" panose="02020603050405020304" pitchFamily="18" charset="0"/>
                  <a:cs typeface="Times New Roman" panose="02020603050405020304" pitchFamily="18" charset="0"/>
                </a:endParaRPr>
              </a:p>
            </p:txBody>
          </p:sp>
          <p:pic>
            <p:nvPicPr>
              <p:cNvPr id="10" name="Google Shape;157;p18" descr="image.png">
                <a:extLst>
                  <a:ext uri="{FF2B5EF4-FFF2-40B4-BE49-F238E27FC236}">
                    <a16:creationId xmlns:a16="http://schemas.microsoft.com/office/drawing/2014/main" id="{56AE66B0-40CE-FBC5-64AD-AE71642C9B94}"/>
                  </a:ext>
                </a:extLst>
              </p:cNvPr>
              <p:cNvPicPr preferRelativeResize="0"/>
              <p:nvPr/>
            </p:nvPicPr>
            <p:blipFill rotWithShape="1">
              <a:blip r:embed="rId4">
                <a:alphaModFix/>
              </a:blip>
              <a:srcRect/>
              <a:stretch/>
            </p:blipFill>
            <p:spPr>
              <a:xfrm>
                <a:off x="511322" y="3909850"/>
                <a:ext cx="209550" cy="219075"/>
              </a:xfrm>
              <a:prstGeom prst="rect">
                <a:avLst/>
              </a:prstGeom>
              <a:noFill/>
              <a:ln>
                <a:noFill/>
              </a:ln>
            </p:spPr>
          </p:pic>
        </p:grpSp>
        <p:grpSp>
          <p:nvGrpSpPr>
            <p:cNvPr id="6" name="Group 5">
              <a:extLst>
                <a:ext uri="{FF2B5EF4-FFF2-40B4-BE49-F238E27FC236}">
                  <a16:creationId xmlns:a16="http://schemas.microsoft.com/office/drawing/2014/main" id="{0B7A6AE4-21E3-3B36-EC6C-A400641CAB3C}"/>
                </a:ext>
              </a:extLst>
            </p:cNvPr>
            <p:cNvGrpSpPr/>
            <p:nvPr/>
          </p:nvGrpSpPr>
          <p:grpSpPr>
            <a:xfrm>
              <a:off x="499846" y="3979858"/>
              <a:ext cx="11151379" cy="786497"/>
              <a:chOff x="518652" y="4640031"/>
              <a:chExt cx="11151379" cy="786497"/>
            </a:xfrm>
          </p:grpSpPr>
          <p:sp>
            <p:nvSpPr>
              <p:cNvPr id="7" name="TextBox 6">
                <a:extLst>
                  <a:ext uri="{FF2B5EF4-FFF2-40B4-BE49-F238E27FC236}">
                    <a16:creationId xmlns:a16="http://schemas.microsoft.com/office/drawing/2014/main" id="{577A3B97-B79A-C3EC-DFA7-464C706A69A9}"/>
                  </a:ext>
                </a:extLst>
              </p:cNvPr>
              <p:cNvSpPr txBox="1"/>
              <p:nvPr/>
            </p:nvSpPr>
            <p:spPr>
              <a:xfrm>
                <a:off x="698091" y="4640031"/>
                <a:ext cx="10971940" cy="786497"/>
              </a:xfrm>
              <a:prstGeom prst="rect">
                <a:avLst/>
              </a:prstGeom>
              <a:noFill/>
            </p:spPr>
            <p:txBody>
              <a:bodyPr wrap="square" rtlCol="0">
                <a:spAutoFit/>
              </a:bodyPr>
              <a:lstStyle/>
              <a:p>
                <a:pPr rtl="0">
                  <a:lnSpc>
                    <a:spcPct val="150000"/>
                  </a:lnSpc>
                  <a:buFont typeface="Arial" panose="020B0604020202020204" pitchFamily="34" charset="0"/>
                  <a:buChar char="•"/>
                </a:pPr>
                <a:r>
                  <a:rPr lang="en-US" sz="1600" b="1" dirty="0">
                    <a:solidFill>
                      <a:schemeClr val="bg1">
                        <a:lumMod val="95000"/>
                      </a:schemeClr>
                    </a:solidFill>
                    <a:latin typeface="Times New Roman" panose="02020603050405020304" pitchFamily="18" charset="0"/>
                    <a:cs typeface="Times New Roman" panose="02020603050405020304" pitchFamily="18" charset="0"/>
                  </a:rPr>
                  <a:t>Detection of other retinal diseases:</a:t>
                </a:r>
                <a:r>
                  <a:rPr lang="en-US" sz="1600" dirty="0">
                    <a:solidFill>
                      <a:schemeClr val="bg1">
                        <a:lumMod val="95000"/>
                      </a:schemeClr>
                    </a:solidFill>
                    <a:latin typeface="Times New Roman" panose="02020603050405020304" pitchFamily="18" charset="0"/>
                    <a:cs typeface="Times New Roman" panose="02020603050405020304" pitchFamily="18" charset="0"/>
                  </a:rPr>
                  <a:t> Extending the model to screen for related conditions such as Glaucoma or Age-Related Macular Degeneration using the same underlying pipeline..</a:t>
                </a:r>
              </a:p>
            </p:txBody>
          </p:sp>
          <p:pic>
            <p:nvPicPr>
              <p:cNvPr id="8" name="Google Shape;157;p18" descr="image.png">
                <a:extLst>
                  <a:ext uri="{FF2B5EF4-FFF2-40B4-BE49-F238E27FC236}">
                    <a16:creationId xmlns:a16="http://schemas.microsoft.com/office/drawing/2014/main" id="{E005082B-B3E1-2A94-CF46-99F3B2E99E3E}"/>
                  </a:ext>
                </a:extLst>
              </p:cNvPr>
              <p:cNvPicPr preferRelativeResize="0"/>
              <p:nvPr/>
            </p:nvPicPr>
            <p:blipFill rotWithShape="1">
              <a:blip r:embed="rId4">
                <a:alphaModFix/>
              </a:blip>
              <a:srcRect/>
              <a:stretch/>
            </p:blipFill>
            <p:spPr>
              <a:xfrm>
                <a:off x="518652" y="4793212"/>
                <a:ext cx="209550" cy="219075"/>
              </a:xfrm>
              <a:prstGeom prst="rect">
                <a:avLst/>
              </a:prstGeom>
              <a:noFill/>
              <a:ln>
                <a:noFill/>
              </a:ln>
            </p:spPr>
          </p:pic>
        </p:grpSp>
      </p:grpSp>
    </p:spTree>
    <p:extLst>
      <p:ext uri="{BB962C8B-B14F-4D97-AF65-F5344CB8AC3E}">
        <p14:creationId xmlns:p14="http://schemas.microsoft.com/office/powerpoint/2010/main" val="2244734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8" name="Google Shape;148;p18"/>
          <p:cNvSpPr txBox="1"/>
          <p:nvPr/>
        </p:nvSpPr>
        <p:spPr>
          <a:xfrm>
            <a:off x="778944" y="633685"/>
            <a:ext cx="9446604"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DD4BF"/>
                </a:solidFill>
                <a:latin typeface="Poppins"/>
                <a:cs typeface="Poppins"/>
                <a:sym typeface="Poppins"/>
              </a:rPr>
              <a:t>CONCLUSION</a:t>
            </a:r>
            <a:endParaRPr lang="en-US" dirty="0"/>
          </a:p>
        </p:txBody>
      </p:sp>
      <p:sp>
        <p:nvSpPr>
          <p:cNvPr id="149" name="Google Shape;149;p18"/>
          <p:cNvSpPr/>
          <p:nvPr/>
        </p:nvSpPr>
        <p:spPr>
          <a:xfrm>
            <a:off x="581025" y="545690"/>
            <a:ext cx="45719" cy="610182"/>
          </a:xfrm>
          <a:prstGeom prst="rect">
            <a:avLst/>
          </a:prstGeom>
          <a:solidFill>
            <a:srgbClr val="2DD4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 name="Rectangle 2">
            <a:extLst>
              <a:ext uri="{FF2B5EF4-FFF2-40B4-BE49-F238E27FC236}">
                <a16:creationId xmlns:a16="http://schemas.microsoft.com/office/drawing/2014/main" id="{6EDCCA41-6C8D-1689-0E34-B8A3E594AE49}"/>
              </a:ext>
            </a:extLst>
          </p:cNvPr>
          <p:cNvSpPr>
            <a:spLocks noChangeArrowheads="1"/>
          </p:cNvSpPr>
          <p:nvPr/>
        </p:nvSpPr>
        <p:spPr bwMode="auto">
          <a:xfrm>
            <a:off x="626744" y="1354664"/>
            <a:ext cx="10845829" cy="3741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1" i="0" u="none" strike="noStrike" cap="none" normalizeH="0" baseline="0" dirty="0">
              <a:ln>
                <a:noFill/>
              </a:ln>
              <a:solidFill>
                <a:schemeClr val="bg1">
                  <a:lumMod val="95000"/>
                </a:schemeClr>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solidFill>
                  <a:schemeClr val="bg1">
                    <a:lumMod val="95000"/>
                  </a:schemeClr>
                </a:solidFill>
                <a:effectLst/>
                <a:latin typeface="Times New Roman" panose="02020603050405020304" pitchFamily="18" charset="0"/>
                <a:cs typeface="Times New Roman" panose="02020603050405020304" pitchFamily="18" charset="0"/>
              </a:rPr>
              <a:t>Retina-Scan demonstrates the potential of deep learning and explainable artificial intelligence to improve the early screening of Diabetic Retinopathy, one of the leading causes of preventable blindness among diabetic patients. By integrating EfficientNetB0 through transfer learning, CLAHE-based image enhancement, class-weighted training, and Grad-CAM visualization, the system delivers accurate, efficient, and interpretable predictions from retinal fundus images. Its web-based design enables quick and accessible pre-screening, particularly in regions where access to ophthalmologists is limited. </a:t>
            </a:r>
          </a:p>
          <a:p>
            <a:pPr marL="0" marR="0" lvl="0" indent="0" algn="l" defTabSz="914400" rtl="0" eaLnBrk="0" fontAlgn="base" latinLnBrk="0" hangingPunct="0">
              <a:lnSpc>
                <a:spcPct val="150000"/>
              </a:lnSpc>
              <a:spcBef>
                <a:spcPct val="0"/>
              </a:spcBef>
              <a:spcAft>
                <a:spcPct val="0"/>
              </a:spcAft>
              <a:buClrTx/>
              <a:buSzTx/>
              <a:buFontTx/>
              <a:buNone/>
              <a:tabLst/>
            </a:pPr>
            <a:endParaRPr lang="en-US" altLang="en-US" sz="1600" dirty="0">
              <a:solidFill>
                <a:schemeClr val="bg1">
                  <a:lumMod val="95000"/>
                </a:schemeClr>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0" i="0" u="none" strike="noStrike" cap="none" normalizeH="0" baseline="0" dirty="0">
                <a:ln>
                  <a:noFill/>
                </a:ln>
                <a:solidFill>
                  <a:schemeClr val="bg1">
                    <a:lumMod val="95000"/>
                  </a:schemeClr>
                </a:solidFill>
                <a:effectLst/>
                <a:latin typeface="Times New Roman" panose="02020603050405020304" pitchFamily="18" charset="0"/>
                <a:cs typeface="Times New Roman" panose="02020603050405020304" pitchFamily="18" charset="0"/>
              </a:rPr>
              <a:t>Although Retina-Scan is intended to assist healthcare professionals rather than replace clinical diagnosis, it has the potential to reduce screening time, support timely referrals, and contribute to the early detection and treatment of diabetic eye disease, ultimately helping to preserve vision and improve patient outcomes.</a:t>
            </a:r>
          </a:p>
        </p:txBody>
      </p:sp>
    </p:spTree>
    <p:extLst>
      <p:ext uri="{BB962C8B-B14F-4D97-AF65-F5344CB8AC3E}">
        <p14:creationId xmlns:p14="http://schemas.microsoft.com/office/powerpoint/2010/main" val="167341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6"/>
        <p:cNvGrpSpPr/>
        <p:nvPr/>
      </p:nvGrpSpPr>
      <p:grpSpPr>
        <a:xfrm>
          <a:off x="0" y="0"/>
          <a:ext cx="0" cy="0"/>
          <a:chOff x="0" y="0"/>
          <a:chExt cx="0" cy="0"/>
        </a:xfrm>
      </p:grpSpPr>
      <p:pic>
        <p:nvPicPr>
          <p:cNvPr id="227" name="Google Shape;22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8" name="Google Shape;228;p23"/>
          <p:cNvSpPr txBox="1"/>
          <p:nvPr/>
        </p:nvSpPr>
        <p:spPr>
          <a:xfrm>
            <a:off x="3395660" y="1776114"/>
            <a:ext cx="5400675" cy="1692771"/>
          </a:xfrm>
          <a:prstGeom prst="rect">
            <a:avLst/>
          </a:prstGeom>
          <a:noFill/>
          <a:ln>
            <a:noFill/>
          </a:ln>
        </p:spPr>
        <p:txBody>
          <a:bodyPr spcFirstLastPara="1" wrap="square" lIns="0" tIns="0" rIns="0" bIns="0" anchor="t" anchorCtr="0">
            <a:spAutoFit/>
          </a:bodyPr>
          <a:lstStyle/>
          <a:p>
            <a:pPr algn="ctr">
              <a:lnSpc>
                <a:spcPct val="110000"/>
              </a:lnSpc>
            </a:pPr>
            <a:r>
              <a:rPr lang="en-IN" sz="10000" b="1" dirty="0">
                <a:solidFill>
                  <a:schemeClr val="bg1"/>
                </a:solidFill>
                <a:effectLst>
                  <a:outerShdw blurRad="50800" dist="38100" algn="l" rotWithShape="0">
                    <a:prstClr val="black">
                      <a:alpha val="40000"/>
                    </a:prstClr>
                  </a:outerShdw>
                  <a:reflection blurRad="76200" stA="55000" endA="300" endPos="20000" dir="5400000" sy="-100000" algn="bl" rotWithShape="0"/>
                </a:effectLst>
                <a:latin typeface="Calibri" panose="020F0502020204030204" pitchFamily="34" charset="0"/>
                <a:ea typeface="Calibri" panose="020F0502020204030204" pitchFamily="34" charset="0"/>
                <a:cs typeface="Calibri" panose="020F0502020204030204" pitchFamily="34" charset="0"/>
              </a:rPr>
              <a:t>THANK</a:t>
            </a:r>
          </a:p>
        </p:txBody>
      </p:sp>
      <p:sp>
        <p:nvSpPr>
          <p:cNvPr id="2" name="TextBox 1">
            <a:extLst>
              <a:ext uri="{FF2B5EF4-FFF2-40B4-BE49-F238E27FC236}">
                <a16:creationId xmlns:a16="http://schemas.microsoft.com/office/drawing/2014/main" id="{28FA55C4-CA01-4775-5EDF-7AA0BCB30FC9}"/>
              </a:ext>
            </a:extLst>
          </p:cNvPr>
          <p:cNvSpPr txBox="1"/>
          <p:nvPr/>
        </p:nvSpPr>
        <p:spPr>
          <a:xfrm>
            <a:off x="4984955" y="2391667"/>
            <a:ext cx="2222083" cy="2154436"/>
          </a:xfrm>
          <a:prstGeom prst="rect">
            <a:avLst/>
          </a:prstGeom>
          <a:noFill/>
        </p:spPr>
        <p:txBody>
          <a:bodyPr wrap="none" rtlCol="0">
            <a:spAutoFit/>
          </a:bodyPr>
          <a:lstStyle/>
          <a:p>
            <a:r>
              <a:rPr lang="en-US" sz="12000" b="1" dirty="0">
                <a:solidFill>
                  <a:srgbClr val="F8FAFC"/>
                </a:solidFill>
                <a:latin typeface="Poppins"/>
                <a:cs typeface="Poppins"/>
                <a:sym typeface="Poppins"/>
              </a:rPr>
              <a:t> </a:t>
            </a:r>
            <a:r>
              <a:rPr lang="en-US" sz="12000" b="1" dirty="0">
                <a:solidFill>
                  <a:srgbClr val="FFFF00"/>
                </a:solidFill>
                <a:latin typeface="SignPainter" panose="02000606070000020003" pitchFamily="2" charset="0"/>
                <a:cs typeface="Poppins"/>
                <a:sym typeface="Poppins"/>
              </a:rPr>
              <a:t>you</a:t>
            </a:r>
            <a:endParaRPr lang="en-US" sz="12000" dirty="0">
              <a:solidFill>
                <a:srgbClr val="FFFF00"/>
              </a:solidFill>
              <a:latin typeface="SignPainter" panose="02000606070000020003" pitchFamily="2" charset="0"/>
            </a:endParaRPr>
          </a:p>
          <a:p>
            <a:endParaRPr lang="en-IN"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fill="hold"/>
                                        <p:tgtEl>
                                          <p:spTgt spid="228"/>
                                        </p:tgtEl>
                                        <p:attrNameLst>
                                          <p:attrName>ppt_x</p:attrName>
                                        </p:attrNameLst>
                                      </p:cBhvr>
                                      <p:tavLst>
                                        <p:tav tm="0">
                                          <p:val>
                                            <p:strVal val="#ppt_x"/>
                                          </p:val>
                                        </p:tav>
                                        <p:tav tm="100000">
                                          <p:val>
                                            <p:strVal val="#ppt_x"/>
                                          </p:val>
                                        </p:tav>
                                      </p:tavLst>
                                    </p:anim>
                                    <p:anim calcmode="lin" valueType="num">
                                      <p:cBhvr additive="base">
                                        <p:cTn id="8" dur="500" fill="hold"/>
                                        <p:tgtEl>
                                          <p:spTgt spid="228"/>
                                        </p:tgtEl>
                                        <p:attrNameLst>
                                          <p:attrName>ppt_y</p:attrName>
                                        </p:attrNameLst>
                                      </p:cBhvr>
                                      <p:tavLst>
                                        <p:tav tm="0">
                                          <p:val>
                                            <p:strVal val="1+#ppt_h/2"/>
                                          </p:val>
                                        </p:tav>
                                        <p:tav tm="100000">
                                          <p:val>
                                            <p:strVal val="#ppt_y"/>
                                          </p:val>
                                        </p:tav>
                                      </p:tavLst>
                                    </p:anim>
                                  </p:childTnLst>
                                </p:cTn>
                              </p:par>
                              <p:par>
                                <p:cTn id="9" presetID="6" presetClass="entr" presetSubtype="16" fill="hold" grpId="0" nodeType="withEffect">
                                  <p:stCondLst>
                                    <p:cond delay="250"/>
                                  </p:stCondLst>
                                  <p:childTnLst>
                                    <p:set>
                                      <p:cBhvr>
                                        <p:cTn id="10" dur="1" fill="hold">
                                          <p:stCondLst>
                                            <p:cond delay="0"/>
                                          </p:stCondLst>
                                        </p:cTn>
                                        <p:tgtEl>
                                          <p:spTgt spid="2"/>
                                        </p:tgtEl>
                                        <p:attrNameLst>
                                          <p:attrName>style.visibility</p:attrName>
                                        </p:attrNameLst>
                                      </p:cBhvr>
                                      <p:to>
                                        <p:strVal val="visible"/>
                                      </p:to>
                                    </p:set>
                                    <p:animEffect transition="in" filter="circle(in)">
                                      <p:cBhvr>
                                        <p:cTn id="11"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 grpId="0"/>
      <p:bldP spid="2" grpId="0"/>
    </p:bld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1156</Words>
  <Application>Microsoft Office PowerPoint</Application>
  <PresentationFormat>Widescreen</PresentationFormat>
  <Paragraphs>79</Paragraphs>
  <Slides>13</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Poppins</vt:lpstr>
      <vt:lpstr>SignPainter</vt:lpstr>
      <vt:lpstr>Times New Roman</vt:lpstr>
      <vt:lpstr>Arial</vt:lpstr>
      <vt:lpstr>Inter</vt:lpstr>
      <vt:lpstr>Wingdings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Abdul Hameed</cp:lastModifiedBy>
  <cp:revision>47</cp:revision>
  <dcterms:modified xsi:type="dcterms:W3CDTF">2026-09-30T17:16:39Z</dcterms:modified>
</cp:coreProperties>
</file>